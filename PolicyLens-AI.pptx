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2FF"/>
    <a:srgbClr val="090022"/>
    <a:srgbClr val="080036"/>
    <a:srgbClr val="000066"/>
    <a:srgbClr val="244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3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28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3f3003455/policylens-ai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olicylens-ai-ugow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776619" y="548434"/>
            <a:ext cx="6036334" cy="535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ANTHROPIC HACKATHON ·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0896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8" name="Text 6"/>
          <p:cNvSpPr/>
          <p:nvPr/>
        </p:nvSpPr>
        <p:spPr>
          <a:xfrm>
            <a:off x="926757" y="2951321"/>
            <a:ext cx="11745387" cy="401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500" b="1" kern="0" spc="-66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r>
              <a:rPr lang="en-US" sz="16500" i="1" kern="0" spc="-66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r>
              <a:rPr lang="en-US" sz="16500" i="1" kern="0" spc="-660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0" b="1" kern="0" spc="-66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en-US" sz="16500" b="1" kern="0" spc="-660" dirty="0">
                <a:solidFill>
                  <a:srgbClr val="C88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0" dirty="0"/>
          </a:p>
        </p:txBody>
      </p:sp>
      <p:sp>
        <p:nvSpPr>
          <p:cNvPr id="9" name="Text 7"/>
          <p:cNvSpPr/>
          <p:nvPr/>
        </p:nvSpPr>
        <p:spPr>
          <a:xfrm>
            <a:off x="838318" y="6970871"/>
            <a:ext cx="8402595" cy="873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"कोई भी सरकारी policy —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समझो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अपनी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भाषा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में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…"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any government policy — in your own language.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73122" y="8210676"/>
            <a:ext cx="965083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47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AI · BUILT FOR INDIA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753981" y="3273743"/>
            <a:ext cx="3619500" cy="3619500"/>
          </a:xfrm>
          <a:prstGeom prst="ellipse">
            <a:avLst/>
          </a:prstGeom>
          <a:solidFill>
            <a:srgbClr val="F2F1EA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01731" y="4321493"/>
            <a:ext cx="1524000" cy="1524000"/>
          </a:xfrm>
          <a:prstGeom prst="ellipse">
            <a:avLst/>
          </a:prstGeom>
          <a:ln w="129540">
            <a:solidFill>
              <a:srgbClr val="244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07537" y="6447473"/>
            <a:ext cx="37123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kern="0" spc="247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· AI · BHARAT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6812953" y="7091363"/>
            <a:ext cx="63672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98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182477" y="7260504"/>
            <a:ext cx="145971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Perceus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6230481" y="7697153"/>
            <a:ext cx="381000" cy="57150"/>
          </a:xfrm>
          <a:prstGeom prst="rect">
            <a:avLst/>
          </a:prstGeom>
          <a:solidFill>
            <a:srgbClr val="D89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611481" y="7697153"/>
            <a:ext cx="381000" cy="5715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8" name="Shape 16"/>
          <p:cNvSpPr/>
          <p:nvPr/>
        </p:nvSpPr>
        <p:spPr>
          <a:xfrm>
            <a:off x="16611481" y="7746683"/>
            <a:ext cx="3810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611481" y="7697153"/>
            <a:ext cx="3810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92481" y="7697153"/>
            <a:ext cx="381000" cy="57150"/>
          </a:xfrm>
          <a:prstGeom prst="rect">
            <a:avLst/>
          </a:prstGeom>
          <a:solidFill>
            <a:srgbClr val="2F7A5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9304638"/>
            <a:ext cx="4868562" cy="494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90" dirty="0">
                <a:latin typeface="Arial" pitchFamily="34" charset="0"/>
                <a:ea typeface="Arial" pitchFamily="34" charset="-122"/>
                <a:cs typeface="Arial" pitchFamily="34" charset="-120"/>
              </a:rPr>
              <a:t>MOHD. SHOEB · PERCEUS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587433" y="576414"/>
            <a:ext cx="3190605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600" b="1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b="1" dirty="0"/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0896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19483"/>
            <a:ext cx="820080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kern="0" spc="189" dirty="0">
                <a:solidFill>
                  <a:srgbClr val="A86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1.4 BILLION-PERSON PROBLEM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3655695"/>
            <a:ext cx="8200806" cy="279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5500" b="1" kern="0" spc="-12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</a:t>
            </a:r>
            <a:r>
              <a:rPr lang="en-US" sz="6000" kern="0" spc="-1275" dirty="0">
                <a:solidFill>
                  <a:srgbClr val="C88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</a:t>
            </a:r>
            <a:endParaRPr lang="en-US" sz="25500" dirty="0"/>
          </a:p>
        </p:txBody>
      </p:sp>
      <p:sp>
        <p:nvSpPr>
          <p:cNvPr id="9" name="Text 7"/>
          <p:cNvSpPr/>
          <p:nvPr/>
        </p:nvSpPr>
        <p:spPr>
          <a:xfrm>
            <a:off x="914400" y="6579870"/>
            <a:ext cx="62788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Indians </a:t>
            </a:r>
            <a:r>
              <a:rPr lang="en-US" sz="2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under thousands of acts, bills, and schemes — most of which they can't read, let alone interpret for themselves.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90748" y="2431613"/>
            <a:ext cx="6475095" cy="1903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policies don't speak </a:t>
            </a:r>
            <a:r>
              <a:rPr lang="en-US" sz="4800" i="1" kern="0" spc="-120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people's language.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9790748" y="4677847"/>
            <a:ext cx="7582853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2" name="Shape 10"/>
          <p:cNvSpPr/>
          <p:nvPr/>
        </p:nvSpPr>
        <p:spPr>
          <a:xfrm>
            <a:off x="9790748" y="4875967"/>
            <a:ext cx="304800" cy="304800"/>
          </a:xfrm>
          <a:prstGeom prst="ellipse">
            <a:avLst/>
          </a:prstGeom>
          <a:ln w="7620">
            <a:solidFill>
              <a:srgbClr val="9C3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8368" y="4883587"/>
            <a:ext cx="36576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62248" y="4748629"/>
            <a:ext cx="722169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are drafted in </a:t>
            </a:r>
            <a:r>
              <a:rPr lang="en-US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legal English &amp; Hindi </a:t>
            </a:r>
            <a:r>
              <a:rPr lang="en-US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opaque to the average reader.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790748" y="5807512"/>
            <a:ext cx="7582853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6" name="Shape 14"/>
          <p:cNvSpPr/>
          <p:nvPr/>
        </p:nvSpPr>
        <p:spPr>
          <a:xfrm>
            <a:off x="9790748" y="6005632"/>
            <a:ext cx="304800" cy="304800"/>
          </a:xfrm>
          <a:prstGeom prst="ellipse">
            <a:avLst/>
          </a:prstGeom>
          <a:ln w="7620">
            <a:solidFill>
              <a:srgbClr val="9C3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98368" y="6013252"/>
            <a:ext cx="36576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62248" y="5890326"/>
            <a:ext cx="722169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don't know </a:t>
            </a:r>
            <a:r>
              <a:rPr lang="en-US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policy actually affects them </a:t>
            </a:r>
            <a:r>
              <a:rPr lang="en-US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as a student, worker, owner, or family.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790748" y="7895392"/>
            <a:ext cx="7582853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0" name="Shape 18"/>
          <p:cNvSpPr/>
          <p:nvPr/>
        </p:nvSpPr>
        <p:spPr>
          <a:xfrm>
            <a:off x="9790748" y="6937177"/>
            <a:ext cx="7582853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1" name="Shape 19"/>
          <p:cNvSpPr/>
          <p:nvPr/>
        </p:nvSpPr>
        <p:spPr>
          <a:xfrm>
            <a:off x="9790748" y="7135296"/>
            <a:ext cx="304800" cy="304800"/>
          </a:xfrm>
          <a:prstGeom prst="ellipse">
            <a:avLst/>
          </a:prstGeom>
          <a:ln w="7620">
            <a:solidFill>
              <a:srgbClr val="9C3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98368" y="7142916"/>
            <a:ext cx="36576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62248" y="6911705"/>
            <a:ext cx="722169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explains policy in </a:t>
            </a:r>
            <a:r>
              <a:rPr lang="en-US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languages </a:t>
            </a:r>
            <a:r>
              <a:rPr lang="en-US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Bengali, Tamil, Telugu, Marathi, and beyond.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790748" y="8283059"/>
            <a:ext cx="400050" cy="9525"/>
          </a:xfrm>
          <a:prstGeom prst="rect">
            <a:avLst/>
          </a:prstGeom>
          <a:solidFill>
            <a:srgbClr val="A86821"/>
          </a:solidFill>
          <a:ln/>
        </p:spPr>
      </p:sp>
      <p:sp>
        <p:nvSpPr>
          <p:cNvPr id="25" name="Text 23"/>
          <p:cNvSpPr/>
          <p:nvPr/>
        </p:nvSpPr>
        <p:spPr>
          <a:xfrm>
            <a:off x="10343198" y="8207812"/>
            <a:ext cx="711070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168" dirty="0">
                <a:solidFill>
                  <a:srgbClr val="A86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· PEOPLE REMAIN UNINFORMED ABOUT LAWS THAT GOVERN THEIR LIVES.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C8823F"/>
          </a:solidFill>
          <a:ln/>
          <a:effectLst>
            <a:outerShdw blurRad="101600" dist="50800" dir="16200000" algn="bl" rotWithShape="0">
              <a:srgbClr val="C8823F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940377" y="609546"/>
            <a:ext cx="2807546" cy="684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200" b="1" kern="0" spc="84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089660"/>
            <a:ext cx="164592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68943"/>
            <a:ext cx="846900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189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315653"/>
            <a:ext cx="8469007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0" b="1" kern="0" spc="-42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r>
              <a:rPr lang="en-US" sz="10500" i="1" kern="0" spc="-420" dirty="0" err="1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r>
              <a:rPr lang="en-US" sz="10500" i="1" kern="0" spc="-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0" b="1" kern="0" spc="-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en-US" sz="10500" b="1" kern="0" spc="-420" dirty="0">
                <a:solidFill>
                  <a:srgbClr val="C88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914400" y="6230303"/>
            <a:ext cx="667131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any policy name. Pick who you are. Pick your language.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an instant, plain-language explanation </a:t>
            </a: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built for how you actually live.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898738" y="3143726"/>
            <a:ext cx="747486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98738" y="3418046"/>
            <a:ext cx="342900" cy="342900"/>
          </a:xfrm>
          <a:prstGeom prst="ellipse">
            <a:avLst/>
          </a:prstGeom>
          <a:solidFill>
            <a:srgbClr val="C8823F"/>
          </a:solidFill>
          <a:ln/>
        </p:spPr>
      </p:sp>
      <p:sp>
        <p:nvSpPr>
          <p:cNvPr id="12" name="Text 10"/>
          <p:cNvSpPr/>
          <p:nvPr/>
        </p:nvSpPr>
        <p:spPr>
          <a:xfrm>
            <a:off x="9898738" y="3418046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84538" y="3398996"/>
            <a:ext cx="69927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language, zero jargon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84538" y="3711416"/>
            <a:ext cx="699273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legalese. No bureaucratic noise. Written like a friend explaining it over chai.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9898738" y="4207669"/>
            <a:ext cx="747486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98738" y="4481989"/>
            <a:ext cx="342900" cy="342900"/>
          </a:xfrm>
          <a:prstGeom prst="ellipse">
            <a:avLst/>
          </a:prstGeom>
          <a:solidFill>
            <a:srgbClr val="C8823F"/>
          </a:solidFill>
          <a:ln/>
        </p:spPr>
      </p:sp>
      <p:sp>
        <p:nvSpPr>
          <p:cNvPr id="17" name="Text 15"/>
          <p:cNvSpPr/>
          <p:nvPr/>
        </p:nvSpPr>
        <p:spPr>
          <a:xfrm>
            <a:off x="9898738" y="4481989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84538" y="4462939"/>
            <a:ext cx="69927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to who you are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36411" y="4775359"/>
            <a:ext cx="74748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job seeker, business owner, or general citizen — the impact section is tailored.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9898738" y="5271611"/>
            <a:ext cx="747486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98738" y="5545931"/>
            <a:ext cx="342900" cy="342900"/>
          </a:xfrm>
          <a:prstGeom prst="ellipse">
            <a:avLst/>
          </a:prstGeom>
          <a:solidFill>
            <a:srgbClr val="C8823F"/>
          </a:solidFill>
          <a:ln/>
        </p:spPr>
      </p:sp>
      <p:sp>
        <p:nvSpPr>
          <p:cNvPr id="22" name="Text 20"/>
          <p:cNvSpPr/>
          <p:nvPr/>
        </p:nvSpPr>
        <p:spPr>
          <a:xfrm>
            <a:off x="9898738" y="554593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84538" y="5526881"/>
            <a:ext cx="69927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Indian languages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84538" y="5839301"/>
            <a:ext cx="6992735" cy="53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Hinglish, Hindi, Bengali, Tamil, Telugu, Marathi, Gujarati, Kannada, Malayalam, Punjabi, Odia.</a:t>
            </a:r>
            <a:endParaRPr lang="en-US" sz="1400" b="1" dirty="0"/>
          </a:p>
        </p:txBody>
      </p:sp>
      <p:sp>
        <p:nvSpPr>
          <p:cNvPr id="25" name="Shape 23"/>
          <p:cNvSpPr/>
          <p:nvPr/>
        </p:nvSpPr>
        <p:spPr>
          <a:xfrm>
            <a:off x="9898738" y="7648099"/>
            <a:ext cx="747486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98738" y="6584156"/>
            <a:ext cx="747486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898738" y="6858476"/>
            <a:ext cx="342900" cy="342900"/>
          </a:xfrm>
          <a:prstGeom prst="ellipse">
            <a:avLst/>
          </a:prstGeom>
          <a:solidFill>
            <a:srgbClr val="C8823F"/>
          </a:solidFill>
          <a:ln/>
        </p:spPr>
      </p:sp>
      <p:sp>
        <p:nvSpPr>
          <p:cNvPr id="28" name="Text 26"/>
          <p:cNvSpPr/>
          <p:nvPr/>
        </p:nvSpPr>
        <p:spPr>
          <a:xfrm>
            <a:off x="9898738" y="6858476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584538" y="6839426"/>
            <a:ext cx="69927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Pros, cons, summary — one card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84538" y="7151847"/>
            <a:ext cx="699273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decision-ready breakdown, copyable in one click.</a:t>
            </a:r>
            <a:endParaRPr lang="en-US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09540" y="566423"/>
            <a:ext cx="3252389" cy="65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0896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6385"/>
            <a:ext cx="8829675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600" b="1" kern="0" spc="-16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steps. </a:t>
            </a:r>
            <a:r>
              <a:rPr lang="en-US" sz="6600" i="1" kern="0" spc="-165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Seconds, not hours.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2813957" y="2020845"/>
            <a:ext cx="4559643" cy="1283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Real-time search grounds every answer in current information before the model writes a word.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028122"/>
            <a:ext cx="5283161" cy="5443538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4920" y="4378643"/>
            <a:ext cx="47195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89" dirty="0"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200" b="1" dirty="0"/>
          </a:p>
        </p:txBody>
      </p:sp>
      <p:sp>
        <p:nvSpPr>
          <p:cNvPr id="11" name="Text 9"/>
          <p:cNvSpPr/>
          <p:nvPr/>
        </p:nvSpPr>
        <p:spPr>
          <a:xfrm>
            <a:off x="1264920" y="4633913"/>
            <a:ext cx="471958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Type.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64920" y="5506403"/>
            <a:ext cx="47195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Enter any policy name — an act, bill, scheme, budget, or law.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64920" y="8060055"/>
            <a:ext cx="4582120" cy="1061085"/>
          </a:xfrm>
          <a:prstGeom prst="roundRect">
            <a:avLst>
              <a:gd name="adj" fmla="val 10772"/>
            </a:avLst>
          </a:prstGeom>
          <a:solidFill>
            <a:srgbClr val="F2F1EA"/>
          </a:solidFill>
          <a:ln w="7620">
            <a:solidFill>
              <a:srgbClr val="E8E6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3990" y="8154901"/>
            <a:ext cx="4361444" cy="74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→ </a:t>
            </a:r>
            <a:r>
              <a:rPr lang="en-US" sz="1400" b="1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"GST" </a:t>
            </a:r>
            <a:r>
              <a:rPr lang="en-US" sz="14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→ </a:t>
            </a:r>
            <a:r>
              <a:rPr lang="en-US" sz="1400" b="1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"NEP 2020" </a:t>
            </a:r>
            <a:r>
              <a:rPr lang="en-US" sz="14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→ </a:t>
            </a:r>
            <a:r>
              <a:rPr lang="en-US" sz="1400" b="1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"MGNREGA"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9940" y="6635591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02361" y="4028122"/>
            <a:ext cx="5283161" cy="5443538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2881" y="4378643"/>
            <a:ext cx="47195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89" dirty="0"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2881" y="4633913"/>
            <a:ext cx="471958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Tune.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852881" y="5506403"/>
            <a:ext cx="47195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Pick who you are and the language you think in.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52881" y="8060055"/>
            <a:ext cx="4582120" cy="1061085"/>
          </a:xfrm>
          <a:prstGeom prst="roundRect">
            <a:avLst>
              <a:gd name="adj" fmla="val 10772"/>
            </a:avLst>
          </a:prstGeom>
          <a:solidFill>
            <a:srgbClr val="F2F1EA"/>
          </a:solidFill>
          <a:ln w="7620">
            <a:solidFill>
              <a:srgbClr val="E8E6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951" y="8166933"/>
            <a:ext cx="4361444" cy="74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</a:t>
            </a:r>
            <a:r>
              <a:rPr lang="en-US" sz="1400" b="1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</a:t>
            </a:r>
            <a:r>
              <a:rPr lang="en-US" sz="14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→ </a:t>
            </a:r>
            <a:r>
              <a:rPr lang="en-US" sz="1400" b="1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Hinglish </a:t>
            </a:r>
            <a:r>
              <a:rPr lang="en-US" sz="14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→ </a:t>
            </a:r>
            <a:r>
              <a:rPr lang="en-US" sz="1400" b="1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বাংলা · தமிழ் · हिंदी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77901" y="6635591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2090321" y="4028122"/>
            <a:ext cx="5283161" cy="5443538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40841" y="4378643"/>
            <a:ext cx="47195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89" dirty="0"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440841" y="4633913"/>
            <a:ext cx="471958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Explain.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12440841" y="5506403"/>
            <a:ext cx="47195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Get a complete six-section breakdown in seconds. Copy &amp; share.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2440841" y="8082915"/>
            <a:ext cx="4582120" cy="1038225"/>
          </a:xfrm>
          <a:prstGeom prst="roundRect">
            <a:avLst>
              <a:gd name="adj" fmla="val 11009"/>
            </a:avLst>
          </a:prstGeom>
          <a:solidFill>
            <a:srgbClr val="2447A6"/>
          </a:solidFill>
          <a:ln/>
        </p:spPr>
      </p:sp>
      <p:sp>
        <p:nvSpPr>
          <p:cNvPr id="28" name="Text 26"/>
          <p:cNvSpPr/>
          <p:nvPr/>
        </p:nvSpPr>
        <p:spPr>
          <a:xfrm>
            <a:off x="12612291" y="8182173"/>
            <a:ext cx="4376684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output → </a:t>
            </a:r>
            <a:r>
              <a:rPr lang="en-US" sz="1400" b="1" dirty="0">
                <a:solidFill>
                  <a:srgbClr val="C88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· Why · Impact Pros · Cons · Summary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597116" y="564832"/>
            <a:ext cx="2174789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0896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80185"/>
            <a:ext cx="5961993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</a:t>
            </a:r>
            <a:r>
              <a:rPr lang="en-US" sz="4800" i="1" kern="0" spc="-120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lens.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29005" y="2406729"/>
            <a:ext cx="7111961" cy="7064931"/>
          </a:xfrm>
          <a:prstGeom prst="roundRect">
            <a:avLst>
              <a:gd name="adj" fmla="val 2427"/>
            </a:avLst>
          </a:prstGeom>
          <a:solidFill>
            <a:srgbClr val="EAF0FB"/>
          </a:solidFill>
          <a:ln w="7620">
            <a:solidFill>
              <a:srgbClr val="DCE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0884" y="2959786"/>
            <a:ext cx="668173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56" dirty="0">
                <a:latin typeface="Arial" pitchFamily="34" charset="0"/>
                <a:ea typeface="Arial" pitchFamily="34" charset="-122"/>
                <a:cs typeface="Arial" pitchFamily="34" charset="-120"/>
              </a:rPr>
              <a:t>11 INDIAN LANGUAGES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1226820" y="3264984"/>
            <a:ext cx="6681734" cy="45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63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how India speaks.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226820" y="3888572"/>
            <a:ext cx="668173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Hinglish on the metro to ଓଡ଼ିଆ at home — every explanation is rendered in native script with the cadence of a fluent speaker.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26820" y="5866001"/>
            <a:ext cx="3138726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26820" y="5972681"/>
            <a:ext cx="6286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Hinglish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64399" y="5949821"/>
            <a:ext cx="6773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Hinglish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5096" y="5866001"/>
            <a:ext cx="3138845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5096" y="5965061"/>
            <a:ext cx="42862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64743" y="5949821"/>
            <a:ext cx="325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हिंदी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26820" y="6311771"/>
            <a:ext cx="3138726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26820" y="6433691"/>
            <a:ext cx="58221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1568" y="6395591"/>
            <a:ext cx="4701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বাংলা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5096" y="6311771"/>
            <a:ext cx="3138845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5096" y="6433691"/>
            <a:ext cx="44148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04948" y="6395591"/>
            <a:ext cx="5851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தமிழ்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26820" y="6719441"/>
            <a:ext cx="3138726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26820" y="6841361"/>
            <a:ext cx="5409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Telugu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17263" y="6803261"/>
            <a:ext cx="6244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తెలుగు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75096" y="6719441"/>
            <a:ext cx="3138845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5096" y="6818501"/>
            <a:ext cx="60269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72708" y="6803261"/>
            <a:ext cx="4174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मराठी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226820" y="7165211"/>
            <a:ext cx="3138726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26820" y="7287131"/>
            <a:ext cx="6106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8927" y="7249031"/>
            <a:ext cx="6428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ગુજરાતી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5096" y="7165211"/>
            <a:ext cx="3138845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5096" y="7287131"/>
            <a:ext cx="68484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Kannada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1736" y="7249031"/>
            <a:ext cx="5684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ಕನ್ನಡ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226820" y="7572881"/>
            <a:ext cx="3138726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26820" y="7694801"/>
            <a:ext cx="81426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Malayalam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14725" y="7656701"/>
            <a:ext cx="9270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മലയാളം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575096" y="7572881"/>
            <a:ext cx="3138845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75096" y="7694801"/>
            <a:ext cx="58269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Punjabi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95555" y="7656701"/>
            <a:ext cx="4945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ਪੰਜਾਬੀ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226820" y="7980551"/>
            <a:ext cx="3138726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226820" y="8102471"/>
            <a:ext cx="39421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91570" y="8064371"/>
            <a:ext cx="4501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3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ଓଡ଼ିଆ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575096" y="7980551"/>
            <a:ext cx="3138845" cy="9525"/>
          </a:xfrm>
          <a:prstGeom prst="rect">
            <a:avLst/>
          </a:prstGeom>
          <a:solidFill>
            <a:srgbClr val="2447A6">
              <a:alpha val="1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75096" y="8087231"/>
            <a:ext cx="93047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more soon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42490" y="8064371"/>
            <a:ext cx="24765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54961" y="2406729"/>
            <a:ext cx="4444960" cy="3418165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67381" y="2719149"/>
            <a:ext cx="393472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IMPACT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8567381" y="2940130"/>
            <a:ext cx="3934724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b="1" kern="0" spc="-5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to you.</a:t>
            </a:r>
            <a:endParaRPr lang="en-US" sz="2550" dirty="0"/>
          </a:p>
        </p:txBody>
      </p:sp>
      <p:sp>
        <p:nvSpPr>
          <p:cNvPr id="51" name="Text 49"/>
          <p:cNvSpPr/>
          <p:nvPr/>
        </p:nvSpPr>
        <p:spPr>
          <a:xfrm>
            <a:off x="8567381" y="3375422"/>
            <a:ext cx="3934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section adapts to who's asking — same policy, different lived reality.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567381" y="4004072"/>
            <a:ext cx="829627" cy="281940"/>
          </a:xfrm>
          <a:prstGeom prst="roundRect">
            <a:avLst>
              <a:gd name="adj" fmla="val 20270"/>
            </a:avLst>
          </a:prstGeom>
          <a:solidFill>
            <a:srgbClr val="F2F1EA"/>
          </a:solidFill>
          <a:ln w="7620">
            <a:solidFill>
              <a:srgbClr val="E8E6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70251" y="4068842"/>
            <a:ext cx="7000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Student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473208" y="4004072"/>
            <a:ext cx="1027509" cy="281940"/>
          </a:xfrm>
          <a:prstGeom prst="roundRect">
            <a:avLst>
              <a:gd name="adj" fmla="val 20270"/>
            </a:avLst>
          </a:prstGeom>
          <a:solidFill>
            <a:srgbClr val="F2F1EA"/>
          </a:solidFill>
          <a:ln w="7620">
            <a:solidFill>
              <a:srgbClr val="E8E6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76078" y="4068842"/>
            <a:ext cx="8979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Job Seeker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576917" y="4004072"/>
            <a:ext cx="763191" cy="281940"/>
          </a:xfrm>
          <a:prstGeom prst="roundRect">
            <a:avLst>
              <a:gd name="adj" fmla="val 20270"/>
            </a:avLst>
          </a:prstGeom>
          <a:solidFill>
            <a:srgbClr val="F2F1EA"/>
          </a:solidFill>
          <a:ln w="7620">
            <a:solidFill>
              <a:srgbClr val="E8E6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79787" y="4068842"/>
            <a:ext cx="6336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Owner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416308" y="4004072"/>
            <a:ext cx="784979" cy="281940"/>
          </a:xfrm>
          <a:prstGeom prst="roundRect">
            <a:avLst>
              <a:gd name="adj" fmla="val 20270"/>
            </a:avLst>
          </a:prstGeom>
          <a:solidFill>
            <a:srgbClr val="F2F1EA"/>
          </a:solidFill>
          <a:ln w="7620">
            <a:solidFill>
              <a:srgbClr val="E8E6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519178" y="4068842"/>
            <a:ext cx="655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 Citizen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2928521" y="2406729"/>
            <a:ext cx="4445080" cy="3418165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240941" y="2719149"/>
            <a:ext cx="393484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13240941" y="2940130"/>
            <a:ext cx="3934847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b="1" kern="0" spc="-5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sections, every time.</a:t>
            </a:r>
            <a:endParaRPr lang="en-US" sz="2550" dirty="0"/>
          </a:p>
        </p:txBody>
      </p:sp>
      <p:sp>
        <p:nvSpPr>
          <p:cNvPr id="63" name="Shape 61"/>
          <p:cNvSpPr/>
          <p:nvPr/>
        </p:nvSpPr>
        <p:spPr>
          <a:xfrm>
            <a:off x="13240941" y="3495437"/>
            <a:ext cx="57150" cy="57150"/>
          </a:xfrm>
          <a:prstGeom prst="ellipse">
            <a:avLst/>
          </a:prstGeom>
          <a:solidFill>
            <a:srgbClr val="2447A6"/>
          </a:solidFill>
          <a:ln/>
        </p:spPr>
      </p:sp>
      <p:sp>
        <p:nvSpPr>
          <p:cNvPr id="64" name="Text 62"/>
          <p:cNvSpPr/>
          <p:nvPr/>
        </p:nvSpPr>
        <p:spPr>
          <a:xfrm>
            <a:off x="13393341" y="3451622"/>
            <a:ext cx="1886764" cy="159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3240941" y="3716417"/>
            <a:ext cx="57150" cy="57150"/>
          </a:xfrm>
          <a:prstGeom prst="ellipse">
            <a:avLst/>
          </a:prstGeom>
          <a:solidFill>
            <a:srgbClr val="2447A6"/>
          </a:solidFill>
          <a:ln/>
        </p:spPr>
      </p:sp>
      <p:sp>
        <p:nvSpPr>
          <p:cNvPr id="66" name="Text 64"/>
          <p:cNvSpPr/>
          <p:nvPr/>
        </p:nvSpPr>
        <p:spPr>
          <a:xfrm>
            <a:off x="13393341" y="3672601"/>
            <a:ext cx="1829614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Was Introduced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13240941" y="3937397"/>
            <a:ext cx="57150" cy="57150"/>
          </a:xfrm>
          <a:prstGeom prst="ellipse">
            <a:avLst/>
          </a:prstGeom>
          <a:solidFill>
            <a:srgbClr val="2447A6"/>
          </a:solidFill>
          <a:ln/>
        </p:spPr>
      </p:sp>
      <p:sp>
        <p:nvSpPr>
          <p:cNvPr id="68" name="Text 66"/>
          <p:cNvSpPr/>
          <p:nvPr/>
        </p:nvSpPr>
        <p:spPr>
          <a:xfrm>
            <a:off x="13393341" y="3893582"/>
            <a:ext cx="2106341" cy="159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Impact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13240941" y="4158377"/>
            <a:ext cx="57150" cy="57150"/>
          </a:xfrm>
          <a:prstGeom prst="ellipse">
            <a:avLst/>
          </a:prstGeom>
          <a:solidFill>
            <a:srgbClr val="2447A6"/>
          </a:solidFill>
          <a:ln/>
        </p:spPr>
      </p:sp>
      <p:sp>
        <p:nvSpPr>
          <p:cNvPr id="70" name="Text 68"/>
          <p:cNvSpPr/>
          <p:nvPr/>
        </p:nvSpPr>
        <p:spPr>
          <a:xfrm>
            <a:off x="13393341" y="4114562"/>
            <a:ext cx="460534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13240941" y="4379357"/>
            <a:ext cx="57150" cy="57150"/>
          </a:xfrm>
          <a:prstGeom prst="ellipse">
            <a:avLst/>
          </a:prstGeom>
          <a:solidFill>
            <a:srgbClr val="2447A6"/>
          </a:solidFill>
          <a:ln/>
        </p:spPr>
      </p:sp>
      <p:sp>
        <p:nvSpPr>
          <p:cNvPr id="72" name="Text 70"/>
          <p:cNvSpPr/>
          <p:nvPr/>
        </p:nvSpPr>
        <p:spPr>
          <a:xfrm>
            <a:off x="13393340" y="4335542"/>
            <a:ext cx="671575" cy="159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13240941" y="4600337"/>
            <a:ext cx="57150" cy="57150"/>
          </a:xfrm>
          <a:prstGeom prst="ellipse">
            <a:avLst/>
          </a:prstGeom>
          <a:solidFill>
            <a:srgbClr val="2447A6"/>
          </a:solidFill>
          <a:ln/>
        </p:spPr>
      </p:sp>
      <p:sp>
        <p:nvSpPr>
          <p:cNvPr id="74" name="Text 72"/>
          <p:cNvSpPr/>
          <p:nvPr/>
        </p:nvSpPr>
        <p:spPr>
          <a:xfrm>
            <a:off x="13393340" y="4548901"/>
            <a:ext cx="1829614" cy="26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2-line Summary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8254961" y="6053495"/>
            <a:ext cx="4444960" cy="3418165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67381" y="6365915"/>
            <a:ext cx="393472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COPY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8567381" y="6586895"/>
            <a:ext cx="3934724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b="1" kern="0" spc="-5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in a tap.</a:t>
            </a:r>
            <a:endParaRPr lang="en-US" sz="2550" dirty="0"/>
          </a:p>
        </p:txBody>
      </p:sp>
      <p:sp>
        <p:nvSpPr>
          <p:cNvPr id="78" name="Text 76"/>
          <p:cNvSpPr/>
          <p:nvPr/>
        </p:nvSpPr>
        <p:spPr>
          <a:xfrm>
            <a:off x="8567381" y="7022187"/>
            <a:ext cx="3934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full breakdown — formatted — to paste into WhatsApp, notes, or a group chat.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12928521" y="6053495"/>
            <a:ext cx="4445080" cy="3418165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 w="7620">
            <a:solidFill>
              <a:srgbClr val="D9D7C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3240941" y="6365915"/>
            <a:ext cx="393484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GROUNDING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13240941" y="6586895"/>
            <a:ext cx="3934847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b="1" kern="0" spc="-5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current.</a:t>
            </a:r>
            <a:endParaRPr lang="en-US" sz="2550" dirty="0"/>
          </a:p>
        </p:txBody>
      </p:sp>
      <p:sp>
        <p:nvSpPr>
          <p:cNvPr id="82" name="Text 80"/>
          <p:cNvSpPr/>
          <p:nvPr/>
        </p:nvSpPr>
        <p:spPr>
          <a:xfrm>
            <a:off x="13240941" y="7022187"/>
            <a:ext cx="39348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pulls fresh web context before generation, so answers reflect today's policies — not yesterday's training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232758" y="550801"/>
            <a:ext cx="2604142" cy="604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70660"/>
            <a:ext cx="16952976" cy="97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8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Lean. Fast. </a:t>
            </a:r>
            <a:r>
              <a:rPr lang="en-US" sz="7200" i="1" kern="0" spc="-180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run.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2555677"/>
            <a:ext cx="76523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React, a thin Flask backend, and a 70B model on a free inference tier — designed so it can keep running for the citizens it serves.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14400" y="3793927"/>
            <a:ext cx="16459200" cy="9525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784527"/>
            <a:ext cx="4975979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4106347"/>
            <a:ext cx="45918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kern="0" spc="158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90379" y="4784527"/>
            <a:ext cx="765548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2" name="Text 10"/>
          <p:cNvSpPr/>
          <p:nvPr/>
        </p:nvSpPr>
        <p:spPr>
          <a:xfrm>
            <a:off x="6157078" y="4180489"/>
            <a:ext cx="5855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HTML+CSS+JS+React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545860" y="4784527"/>
            <a:ext cx="382762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775127"/>
            <a:ext cx="4975979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5096947"/>
            <a:ext cx="45918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kern="0" spc="158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90379" y="5775127"/>
            <a:ext cx="765548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0" name="Text 18"/>
          <p:cNvSpPr/>
          <p:nvPr/>
        </p:nvSpPr>
        <p:spPr>
          <a:xfrm>
            <a:off x="6157078" y="5096946"/>
            <a:ext cx="24097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Flask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3545860" y="5775127"/>
            <a:ext cx="382762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5" name="Text 23"/>
          <p:cNvSpPr/>
          <p:nvPr/>
        </p:nvSpPr>
        <p:spPr>
          <a:xfrm>
            <a:off x="16785194" y="5211247"/>
            <a:ext cx="2758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914400" y="6765726"/>
            <a:ext cx="4975979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7" name="Text 25"/>
          <p:cNvSpPr/>
          <p:nvPr/>
        </p:nvSpPr>
        <p:spPr>
          <a:xfrm>
            <a:off x="1181100" y="6087546"/>
            <a:ext cx="45918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kern="0" spc="158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90379" y="6765726"/>
            <a:ext cx="765548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9" name="Text 27"/>
          <p:cNvSpPr/>
          <p:nvPr/>
        </p:nvSpPr>
        <p:spPr>
          <a:xfrm>
            <a:off x="6095294" y="6136974"/>
            <a:ext cx="23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B1220"/>
                </a:solidFill>
                <a:latin typeface="Arial" pitchFamily="34" charset="0"/>
                <a:cs typeface="Arial" pitchFamily="34" charset="-120"/>
              </a:rPr>
              <a:t>Claude API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49708" y="6224509"/>
            <a:ext cx="2016975" cy="245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50" kern="0" spc="-24" dirty="0">
                <a:solidFill>
                  <a:srgbClr val="6B7385"/>
                </a:solidFill>
                <a:latin typeface="Arial" pitchFamily="34" charset="0"/>
                <a:cs typeface="Arial" pitchFamily="34" charset="-120"/>
              </a:rPr>
              <a:t>By Anthropic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3545860" y="6765726"/>
            <a:ext cx="382762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33" name="Text 31"/>
          <p:cNvSpPr/>
          <p:nvPr/>
        </p:nvSpPr>
        <p:spPr>
          <a:xfrm>
            <a:off x="16234886" y="6201847"/>
            <a:ext cx="82617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914400" y="7756326"/>
            <a:ext cx="4975979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35" name="Text 33"/>
          <p:cNvSpPr/>
          <p:nvPr/>
        </p:nvSpPr>
        <p:spPr>
          <a:xfrm>
            <a:off x="1181100" y="7078146"/>
            <a:ext cx="45918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kern="0" spc="158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90379" y="7756326"/>
            <a:ext cx="765548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37" name="Text 35"/>
          <p:cNvSpPr/>
          <p:nvPr/>
        </p:nvSpPr>
        <p:spPr>
          <a:xfrm>
            <a:off x="6121653" y="7119350"/>
            <a:ext cx="28718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DuckDuckGo Search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40535" y="7142917"/>
            <a:ext cx="17801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24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live web context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3545860" y="7756326"/>
            <a:ext cx="382762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42" name="Shape 40"/>
          <p:cNvSpPr/>
          <p:nvPr/>
        </p:nvSpPr>
        <p:spPr>
          <a:xfrm>
            <a:off x="914400" y="8746926"/>
            <a:ext cx="4975979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43" name="Text 41"/>
          <p:cNvSpPr/>
          <p:nvPr/>
        </p:nvSpPr>
        <p:spPr>
          <a:xfrm>
            <a:off x="1181100" y="8068746"/>
            <a:ext cx="45918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kern="0" spc="158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90379" y="8746926"/>
            <a:ext cx="765548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45" name="Text 43"/>
          <p:cNvSpPr/>
          <p:nvPr/>
        </p:nvSpPr>
        <p:spPr>
          <a:xfrm>
            <a:off x="6157079" y="8068746"/>
            <a:ext cx="735174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render.com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3545860" y="8746926"/>
            <a:ext cx="3827621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49" name="Text 47"/>
          <p:cNvSpPr/>
          <p:nvPr/>
        </p:nvSpPr>
        <p:spPr>
          <a:xfrm>
            <a:off x="1181100" y="9059346"/>
            <a:ext cx="45918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kern="0" spc="158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6157079" y="9059346"/>
            <a:ext cx="3814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Indian regional languages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9955649" y="9124117"/>
            <a:ext cx="205680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24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prompt-engineered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734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5334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437341" y="410647"/>
            <a:ext cx="2529125" cy="496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6738759" y="5334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9372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75385"/>
            <a:ext cx="3456695" cy="562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in </a:t>
            </a:r>
            <a:r>
              <a:rPr lang="en-US" sz="4050" b="1" i="1" kern="0" spc="-10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14019134" y="1296114"/>
            <a:ext cx="6773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019134" y="1494234"/>
            <a:ext cx="6773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925080" y="1296114"/>
            <a:ext cx="52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925080" y="1494234"/>
            <a:ext cx="132945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483132" y="1296114"/>
            <a:ext cx="9666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83132" y="1494234"/>
            <a:ext cx="9666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Hinglish</a:t>
            </a:r>
            <a:endParaRPr lang="en-US" sz="135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E79F19B1-C7C6-4A5E-C6D8-12C237289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290" y="4241112"/>
            <a:ext cx="9747007" cy="731025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5DB4D52-0958-3A7A-EF3E-F7DB2D841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748" y="259791"/>
            <a:ext cx="9747007" cy="731025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6304ABF-5BC6-BDE5-D9F7-8D0A39C5B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37" y="259792"/>
            <a:ext cx="9747007" cy="7310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384976" y="576688"/>
            <a:ext cx="3573379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IMPACT &amp; REACH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0896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80185"/>
            <a:ext cx="5755108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50" b="1" kern="0" spc="-10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</a:t>
            </a:r>
            <a:r>
              <a:rPr lang="en-US" sz="4050" i="1" kern="0" spc="-101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</a:t>
            </a:r>
            <a:r>
              <a:rPr lang="en-US" sz="4050" b="1" kern="0" spc="-10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policy actually touches.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13645515" y="1840230"/>
            <a:ext cx="372808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four lived realities — each gets the section that matters most to them, in the language they think 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6590348"/>
            <a:ext cx="16459200" cy="9525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221355"/>
            <a:ext cx="16459200" cy="9525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1580" y="3228975"/>
            <a:ext cx="9525" cy="3361372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3571875"/>
            <a:ext cx="368099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01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81100" y="3850005"/>
            <a:ext cx="368099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Students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81100" y="4309263"/>
            <a:ext cx="3680994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education policies — from NEP 2020 to scholarship eligibility — without paraphrasing 400-page PDFs.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1100" y="5740718"/>
            <a:ext cx="357378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5770475"/>
            <a:ext cx="368099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"NEP 2020" </a:t>
            </a: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credit-system impact on their degree.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36380" y="3228975"/>
            <a:ext cx="9525" cy="3361372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18" name="Text 16"/>
          <p:cNvSpPr/>
          <p:nvPr/>
        </p:nvSpPr>
        <p:spPr>
          <a:xfrm>
            <a:off x="5295900" y="3571875"/>
            <a:ext cx="368099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02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295900" y="3850005"/>
            <a:ext cx="368099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Job Seekers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295900" y="4272193"/>
            <a:ext cx="3680994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which employment schemes — MGNREGA, Skill India, PMKVY — actually apply to them and how to enrol.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95900" y="5740718"/>
            <a:ext cx="357378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2" name="Text 20"/>
          <p:cNvSpPr/>
          <p:nvPr/>
        </p:nvSpPr>
        <p:spPr>
          <a:xfrm>
            <a:off x="5295900" y="5745761"/>
            <a:ext cx="368099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"Skill India" </a:t>
            </a: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eligibility, stipend, certified trades.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251180" y="3228975"/>
            <a:ext cx="9525" cy="3361372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4" name="Text 22"/>
          <p:cNvSpPr/>
          <p:nvPr/>
        </p:nvSpPr>
        <p:spPr>
          <a:xfrm>
            <a:off x="9410700" y="3571875"/>
            <a:ext cx="368099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03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410700" y="3850005"/>
            <a:ext cx="368099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Business Owners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410700" y="4371044"/>
            <a:ext cx="3680994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GST, MSME schemes, startup tax holidays — the rules a founder needs the day they're announced.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410700" y="5740718"/>
            <a:ext cx="357378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28" name="Text 26"/>
          <p:cNvSpPr/>
          <p:nvPr/>
        </p:nvSpPr>
        <p:spPr>
          <a:xfrm>
            <a:off x="9410700" y="5770475"/>
            <a:ext cx="368099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"Startup India" </a:t>
            </a: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exemption rules &amp; timelines.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25500" y="3571875"/>
            <a:ext cx="368884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04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3525500" y="3850005"/>
            <a:ext cx="368884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 Citizens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3525500" y="4420470"/>
            <a:ext cx="3688842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A3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informed on the Union Budget, healthcare, farming bills — the laws that shape everyday life at home.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3525500" y="5740718"/>
            <a:ext cx="35814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33" name="Text 31"/>
          <p:cNvSpPr/>
          <p:nvPr/>
        </p:nvSpPr>
        <p:spPr>
          <a:xfrm>
            <a:off x="13525500" y="5758118"/>
            <a:ext cx="36888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"Budget 2025" </a:t>
            </a:r>
            <a:r>
              <a:rPr lang="en-US" sz="1200" b="1" kern="0" spc="3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Gets: </a:t>
            </a:r>
            <a:r>
              <a:rPr lang="en-US" sz="1200" kern="0" spc="3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for their household.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7055168"/>
            <a:ext cx="9889236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50" b="1" kern="0" spc="-63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has </a:t>
            </a:r>
            <a:r>
              <a:rPr lang="en-US" sz="3150" i="1" kern="0" spc="-63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official languages. </a:t>
            </a:r>
            <a:r>
              <a:rPr lang="en-US" sz="3150" b="1" kern="0" spc="-63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 bridges the gap between government and people.</a:t>
            </a:r>
            <a:endParaRPr lang="en-US" sz="3150" dirty="0"/>
          </a:p>
        </p:txBody>
      </p:sp>
      <p:sp>
        <p:nvSpPr>
          <p:cNvPr id="35" name="Text 33"/>
          <p:cNvSpPr/>
          <p:nvPr/>
        </p:nvSpPr>
        <p:spPr>
          <a:xfrm>
            <a:off x="15656010" y="7169468"/>
            <a:ext cx="171758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000" b="1" kern="0" spc="-36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0" dirty="0"/>
          </a:p>
        </p:txBody>
      </p:sp>
      <p:sp>
        <p:nvSpPr>
          <p:cNvPr id="36" name="Text 34"/>
          <p:cNvSpPr/>
          <p:nvPr/>
        </p:nvSpPr>
        <p:spPr>
          <a:xfrm>
            <a:off x="10780776" y="8236267"/>
            <a:ext cx="6592824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kern="0" spc="17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LANGUAGES </a:t>
            </a:r>
          </a:p>
          <a:p>
            <a:pPr marL="0" indent="0" algn="r">
              <a:buNone/>
            </a:pPr>
            <a:r>
              <a:rPr lang="en-US" kern="0" spc="176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">
            <a:extLst>
              <a:ext uri="{FF2B5EF4-FFF2-40B4-BE49-F238E27FC236}">
                <a16:creationId xmlns:a16="http://schemas.microsoft.com/office/drawing/2014/main" id="{ABB48FA8-4298-7385-3299-F5540DD99D7F}"/>
              </a:ext>
            </a:extLst>
          </p:cNvPr>
          <p:cNvSpPr/>
          <p:nvPr/>
        </p:nvSpPr>
        <p:spPr>
          <a:xfrm>
            <a:off x="882393" y="2786820"/>
            <a:ext cx="5420467" cy="3193482"/>
          </a:xfrm>
          <a:prstGeom prst="roundRect">
            <a:avLst>
              <a:gd name="adj" fmla="val 46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3" name="Shape 7">
            <a:extLst>
              <a:ext uri="{FF2B5EF4-FFF2-40B4-BE49-F238E27FC236}">
                <a16:creationId xmlns:a16="http://schemas.microsoft.com/office/drawing/2014/main" id="{66265C77-B7FF-B477-50C5-DB8B439304EE}"/>
              </a:ext>
            </a:extLst>
          </p:cNvPr>
          <p:cNvSpPr/>
          <p:nvPr/>
        </p:nvSpPr>
        <p:spPr>
          <a:xfrm>
            <a:off x="870084" y="6328251"/>
            <a:ext cx="5420467" cy="3181451"/>
          </a:xfrm>
          <a:prstGeom prst="roundRect">
            <a:avLst>
              <a:gd name="adj" fmla="val 3809"/>
            </a:avLst>
          </a:prstGeom>
          <a:solidFill>
            <a:srgbClr val="090022"/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0" name="Shape 7">
            <a:extLst>
              <a:ext uri="{FF2B5EF4-FFF2-40B4-BE49-F238E27FC236}">
                <a16:creationId xmlns:a16="http://schemas.microsoft.com/office/drawing/2014/main" id="{48B7A9CE-E16C-031E-8185-E02EC658A58C}"/>
              </a:ext>
            </a:extLst>
          </p:cNvPr>
          <p:cNvSpPr/>
          <p:nvPr/>
        </p:nvSpPr>
        <p:spPr>
          <a:xfrm>
            <a:off x="6682344" y="6290861"/>
            <a:ext cx="5420467" cy="3181451"/>
          </a:xfrm>
          <a:prstGeom prst="roundRect">
            <a:avLst>
              <a:gd name="adj" fmla="val 494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3899C87E-C3E0-8273-9FDF-4EB94EF58EB2}"/>
              </a:ext>
            </a:extLst>
          </p:cNvPr>
          <p:cNvSpPr/>
          <p:nvPr/>
        </p:nvSpPr>
        <p:spPr>
          <a:xfrm>
            <a:off x="12391292" y="6341863"/>
            <a:ext cx="5420467" cy="3181451"/>
          </a:xfrm>
          <a:prstGeom prst="roundRect">
            <a:avLst>
              <a:gd name="adj" fmla="val 2674"/>
            </a:avLst>
          </a:prstGeom>
          <a:solidFill>
            <a:srgbClr val="090022"/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Shape 7">
            <a:extLst>
              <a:ext uri="{FF2B5EF4-FFF2-40B4-BE49-F238E27FC236}">
                <a16:creationId xmlns:a16="http://schemas.microsoft.com/office/drawing/2014/main" id="{230ACE23-56EF-BA5A-73E6-C03C8EED1B54}"/>
              </a:ext>
            </a:extLst>
          </p:cNvPr>
          <p:cNvSpPr/>
          <p:nvPr/>
        </p:nvSpPr>
        <p:spPr>
          <a:xfrm>
            <a:off x="12339833" y="2885926"/>
            <a:ext cx="5420467" cy="3181451"/>
          </a:xfrm>
          <a:prstGeom prst="roundRect">
            <a:avLst>
              <a:gd name="adj" fmla="val 380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914400" y="725805"/>
            <a:ext cx="95250" cy="95250"/>
          </a:xfrm>
          <a:prstGeom prst="ellipse">
            <a:avLst/>
          </a:prstGeom>
          <a:solidFill>
            <a:srgbClr val="2447A6"/>
          </a:solidFill>
          <a:ln/>
          <a:effectLst>
            <a:outerShdw blurRad="101600" dist="50800" dir="16200000" algn="bl" rotWithShape="0">
              <a:srgbClr val="EAF0F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6858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631780" y="581530"/>
            <a:ext cx="3121020" cy="406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84" dirty="0"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6738759" y="6858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0896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80185"/>
            <a:ext cx="5101713" cy="97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8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</a:t>
            </a:r>
            <a:r>
              <a:rPr lang="en-US" sz="7200" i="1" kern="0" spc="-180" dirty="0">
                <a:solidFill>
                  <a:srgbClr val="244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</a:t>
            </a:r>
            <a:endParaRPr lang="en-US" sz="7200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FB0FF25E-8196-801C-2BB0-63B00F192499}"/>
              </a:ext>
            </a:extLst>
          </p:cNvPr>
          <p:cNvSpPr/>
          <p:nvPr/>
        </p:nvSpPr>
        <p:spPr>
          <a:xfrm>
            <a:off x="885523" y="2913565"/>
            <a:ext cx="102990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🔊</a:t>
            </a:r>
            <a:endParaRPr lang="en-US" sz="3600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B622B4DB-F1C8-D657-E915-6DA2829CC4C1}"/>
              </a:ext>
            </a:extLst>
          </p:cNvPr>
          <p:cNvSpPr/>
          <p:nvPr/>
        </p:nvSpPr>
        <p:spPr>
          <a:xfrm>
            <a:off x="1140952" y="3646553"/>
            <a:ext cx="4398747" cy="741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 Output</a:t>
            </a:r>
            <a:endParaRPr lang="en-US" sz="4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4300F2AA-C5A0-575A-065B-65B0BAEF6056}"/>
              </a:ext>
            </a:extLst>
          </p:cNvPr>
          <p:cNvSpPr/>
          <p:nvPr/>
        </p:nvSpPr>
        <p:spPr>
          <a:xfrm>
            <a:off x="1123950" y="4438795"/>
            <a:ext cx="4398748" cy="1265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Listen to policy explanations — accessibility for all literacy levels</a:t>
            </a:r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CF51209A-9355-87F4-C716-39CE46604399}"/>
              </a:ext>
            </a:extLst>
          </p:cNvPr>
          <p:cNvSpPr/>
          <p:nvPr/>
        </p:nvSpPr>
        <p:spPr>
          <a:xfrm>
            <a:off x="6660684" y="2848070"/>
            <a:ext cx="5420467" cy="3181451"/>
          </a:xfrm>
          <a:prstGeom prst="roundRect">
            <a:avLst>
              <a:gd name="adj" fmla="val 4943"/>
            </a:avLst>
          </a:prstGeom>
          <a:solidFill>
            <a:srgbClr val="090022"/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66B5C996-0564-2885-06C8-8E1869D0A304}"/>
              </a:ext>
            </a:extLst>
          </p:cNvPr>
          <p:cNvSpPr/>
          <p:nvPr/>
        </p:nvSpPr>
        <p:spPr>
          <a:xfrm>
            <a:off x="6888521" y="2946735"/>
            <a:ext cx="685800" cy="69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419D6A03-24F9-DA5D-3CCC-099C002F9E8A}"/>
              </a:ext>
            </a:extLst>
          </p:cNvPr>
          <p:cNvSpPr/>
          <p:nvPr/>
        </p:nvSpPr>
        <p:spPr>
          <a:xfrm>
            <a:off x="6980241" y="3407485"/>
            <a:ext cx="4865572" cy="112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App</a:t>
            </a:r>
            <a:endParaRPr lang="en-US" sz="4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7BE68AD3-B9A5-AAAA-ADB3-5D6B75A5EBCF}"/>
              </a:ext>
            </a:extLst>
          </p:cNvPr>
          <p:cNvSpPr/>
          <p:nvPr/>
        </p:nvSpPr>
        <p:spPr>
          <a:xfrm>
            <a:off x="6888521" y="4104192"/>
            <a:ext cx="5236141" cy="183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9B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 Android &amp; iOS app for on-the-go access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DA1469C5-0B1B-3002-136B-182C75242966}"/>
              </a:ext>
            </a:extLst>
          </p:cNvPr>
          <p:cNvSpPr/>
          <p:nvPr/>
        </p:nvSpPr>
        <p:spPr>
          <a:xfrm>
            <a:off x="12391292" y="2821729"/>
            <a:ext cx="996208" cy="81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83C068C9-12AF-09DB-A4A0-2C07ED1CD2EB}"/>
              </a:ext>
            </a:extLst>
          </p:cNvPr>
          <p:cNvSpPr/>
          <p:nvPr/>
        </p:nvSpPr>
        <p:spPr>
          <a:xfrm>
            <a:off x="12696365" y="3296644"/>
            <a:ext cx="4292860" cy="123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Alerts</a:t>
            </a:r>
            <a:endParaRPr lang="en-US" sz="48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B430AC95-C0B1-1DE1-BFB2-4F1864D7B25A}"/>
              </a:ext>
            </a:extLst>
          </p:cNvPr>
          <p:cNvSpPr/>
          <p:nvPr/>
        </p:nvSpPr>
        <p:spPr>
          <a:xfrm>
            <a:off x="12696365" y="4468764"/>
            <a:ext cx="4737274" cy="120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Notify users instantly when new policies are announced</a:t>
            </a:r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1BA8A723-6E7F-909C-1BDE-5AE3B669FFEF}"/>
              </a:ext>
            </a:extLst>
          </p:cNvPr>
          <p:cNvSpPr/>
          <p:nvPr/>
        </p:nvSpPr>
        <p:spPr>
          <a:xfrm>
            <a:off x="914400" y="6401598"/>
            <a:ext cx="901165" cy="76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AA49E176-3BAB-B23A-D2B9-7804686CCC7A}"/>
              </a:ext>
            </a:extLst>
          </p:cNvPr>
          <p:cNvSpPr/>
          <p:nvPr/>
        </p:nvSpPr>
        <p:spPr>
          <a:xfrm>
            <a:off x="1166181" y="7049853"/>
            <a:ext cx="4598150" cy="94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History</a:t>
            </a:r>
            <a:endParaRPr lang="en-US" sz="4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6E84C54F-BFD5-5585-1836-9A6ADBA5B381}"/>
              </a:ext>
            </a:extLst>
          </p:cNvPr>
          <p:cNvSpPr/>
          <p:nvPr/>
        </p:nvSpPr>
        <p:spPr>
          <a:xfrm>
            <a:off x="1152937" y="8061608"/>
            <a:ext cx="5187140" cy="1133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9B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 how policies have changed and evolved over time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C9C3FDC8-2A3E-E1BC-6D55-1FEB8B997A73}"/>
              </a:ext>
            </a:extLst>
          </p:cNvPr>
          <p:cNvSpPr/>
          <p:nvPr/>
        </p:nvSpPr>
        <p:spPr>
          <a:xfrm>
            <a:off x="6745793" y="6306326"/>
            <a:ext cx="1013055" cy="839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71506352-9FA9-F4AE-5347-1734EBDC9808}"/>
              </a:ext>
            </a:extLst>
          </p:cNvPr>
          <p:cNvSpPr/>
          <p:nvPr/>
        </p:nvSpPr>
        <p:spPr>
          <a:xfrm>
            <a:off x="7073494" y="6880921"/>
            <a:ext cx="5421110" cy="128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WhatsApp Bot</a:t>
            </a:r>
            <a:endParaRPr lang="en-US" sz="4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1F23DF5F-B190-FCAD-99C5-D3E9BC0A96AB}"/>
              </a:ext>
            </a:extLst>
          </p:cNvPr>
          <p:cNvSpPr/>
          <p:nvPr/>
        </p:nvSpPr>
        <p:spPr>
          <a:xfrm>
            <a:off x="7090722" y="7764678"/>
            <a:ext cx="4507904" cy="128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policy name on WhatsApp → get instant explanation</a:t>
            </a:r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C0CBFC38-A55E-B867-C4EE-56FADCE6B708}"/>
              </a:ext>
            </a:extLst>
          </p:cNvPr>
          <p:cNvSpPr/>
          <p:nvPr/>
        </p:nvSpPr>
        <p:spPr>
          <a:xfrm>
            <a:off x="12507396" y="6375841"/>
            <a:ext cx="764000" cy="79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🗳️</a:t>
            </a:r>
            <a:endParaRPr lang="en-US" sz="3200" dirty="0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BCD5A821-A022-EAF9-179B-90D1D8B29EFD}"/>
              </a:ext>
            </a:extLst>
          </p:cNvPr>
          <p:cNvSpPr/>
          <p:nvPr/>
        </p:nvSpPr>
        <p:spPr>
          <a:xfrm>
            <a:off x="12696364" y="6810359"/>
            <a:ext cx="4556919" cy="128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Election Mode</a:t>
            </a:r>
            <a:endParaRPr lang="en-US" sz="48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87BEDFC1-2804-FF20-339D-D09C575EEC73}"/>
              </a:ext>
            </a:extLst>
          </p:cNvPr>
          <p:cNvSpPr/>
          <p:nvPr/>
        </p:nvSpPr>
        <p:spPr>
          <a:xfrm>
            <a:off x="12696365" y="7687048"/>
            <a:ext cx="5038181" cy="1442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9B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party manifestos before elections — informed voting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02005"/>
            <a:ext cx="95250" cy="95250"/>
          </a:xfrm>
          <a:prstGeom prst="ellipse">
            <a:avLst/>
          </a:prstGeom>
          <a:solidFill>
            <a:srgbClr val="C8823F"/>
          </a:solidFill>
          <a:ln/>
          <a:effectLst>
            <a:outerShdw blurRad="101600" dist="50800" dir="16200000" algn="bl" rotWithShape="0">
              <a:srgbClr val="C8823F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3950" y="762000"/>
            <a:ext cx="12550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POLICYLENS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41643" y="668306"/>
            <a:ext cx="2445730" cy="60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kern="0" spc="84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8759" y="762000"/>
            <a:ext cx="7110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165860"/>
            <a:ext cx="16459200" cy="9525"/>
          </a:xfrm>
          <a:prstGeom prst="rect">
            <a:avLst/>
          </a:prstGeom>
          <a:solidFill>
            <a:srgbClr val="D9D7C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1" y="2944178"/>
            <a:ext cx="1698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189" dirty="0">
                <a:solidFill>
                  <a:srgbClr val="C88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48038"/>
            <a:ext cx="9431319" cy="293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0" b="1" kern="0" spc="-48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r>
              <a:rPr lang="en-US" sz="12000" i="1" kern="0" spc="-480" dirty="0" err="1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r>
              <a:rPr lang="en-US" sz="12000" i="1" kern="0" spc="-48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12000" b="1" kern="0" spc="-4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en-US" sz="12000" b="1" kern="0" spc="-480" dirty="0">
                <a:solidFill>
                  <a:srgbClr val="C88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914400" y="6098858"/>
            <a:ext cx="745617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"Democracy works best when citizens </a:t>
            </a:r>
            <a:r>
              <a:rPr lang="en-US" sz="255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</a:t>
            </a:r>
            <a:r>
              <a:rPr lang="en-US" sz="25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laws governing them."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399" y="7279957"/>
            <a:ext cx="94313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"लोकतंत्र तभी सफल है जब हर नागरिक अपने कानून समझ सके।"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833021" y="3309938"/>
            <a:ext cx="9525" cy="440817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97841" y="4212907"/>
            <a:ext cx="60756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297841" y="3519488"/>
            <a:ext cx="625790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62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97841" y="3706178"/>
            <a:ext cx="625790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Mohd. Shoeb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297841" y="5123498"/>
            <a:ext cx="60756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297841" y="4430078"/>
            <a:ext cx="625790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62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97841" y="4616768"/>
            <a:ext cx="625790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Perceus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297841" y="6034088"/>
            <a:ext cx="60756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297841" y="5340668"/>
            <a:ext cx="625790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62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97841" y="5527357"/>
            <a:ext cx="625790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Hackathon · </a:t>
            </a:r>
            <a:r>
              <a:rPr lang="en-US" sz="1950" b="1" kern="0" spc="-19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</a:t>
            </a:r>
            <a:endParaRPr lang="en-US" sz="195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97841" y="6876097"/>
            <a:ext cx="60756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297841" y="6251257"/>
            <a:ext cx="625790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62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297841" y="6437948"/>
            <a:ext cx="62579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github.com/23f3003455/policylens-ai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97841" y="7093268"/>
            <a:ext cx="625790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162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>
            <a:hlinkClick r:id="rId4"/>
          </p:cNvPr>
          <p:cNvSpPr/>
          <p:nvPr/>
        </p:nvSpPr>
        <p:spPr>
          <a:xfrm>
            <a:off x="11321905" y="7279957"/>
            <a:ext cx="62579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https://policylens-ai-ugow.onrender.com/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934713" y="9395460"/>
            <a:ext cx="2143244" cy="22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9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MOHD. SHOEB · PERCEUS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979316" y="9395460"/>
            <a:ext cx="2470484" cy="22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9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HACKATHON · 2026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1078</Words>
  <Application>Microsoft Office PowerPoint</Application>
  <PresentationFormat>Custom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Mohd. Shoeb</cp:lastModifiedBy>
  <cp:revision>38</cp:revision>
  <dcterms:created xsi:type="dcterms:W3CDTF">2026-04-27T10:18:12Z</dcterms:created>
  <dcterms:modified xsi:type="dcterms:W3CDTF">2026-04-28T07:01:36Z</dcterms:modified>
</cp:coreProperties>
</file>