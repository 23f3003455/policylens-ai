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3" d="100"/>
          <a:sy n="123" d="100"/>
        </p:scale>
        <p:origin x="298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061833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1097280"/>
            <a:ext cx="5029200" cy="5029200"/>
          </a:xfrm>
          <a:prstGeom prst="ellipse">
            <a:avLst/>
          </a:prstGeom>
          <a:solidFill>
            <a:srgbClr val="5B6EF7">
              <a:alpha val="18000"/>
            </a:srgbClr>
          </a:solidFill>
          <a:ln w="12700">
            <a:solidFill>
              <a:srgbClr val="5B6EF7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2926080"/>
            <a:ext cx="3657600" cy="3657600"/>
          </a:xfrm>
          <a:prstGeom prst="ellipse">
            <a:avLst/>
          </a:prstGeom>
          <a:solidFill>
            <a:srgbClr val="FF6B6B">
              <a:alpha val="12000"/>
            </a:srgbClr>
          </a:solidFill>
          <a:ln w="12700">
            <a:solidFill>
              <a:srgbClr val="FF6B6B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502920"/>
            <a:ext cx="2377440" cy="347472"/>
          </a:xfrm>
          <a:prstGeom prst="roundRect">
            <a:avLst>
              <a:gd name="adj" fmla="val 13158"/>
            </a:avLst>
          </a:prstGeom>
          <a:solidFill>
            <a:srgbClr val="5B6EF7">
              <a:alpha val="70000"/>
            </a:srgbClr>
          </a:solidFill>
          <a:ln w="12700">
            <a:solidFill>
              <a:srgbClr val="7B8E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50292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7B8EFF"/>
                </a:solidFill>
              </a:rPr>
              <a:t>ANTHROPIC HACKATHON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051560"/>
            <a:ext cx="7772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PolicyLens AI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548640" y="23774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FFD1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"Koi bhi sarkari policy — apni bhasha mein samjho"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48640" y="292608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8EEF8"/>
                </a:solidFill>
              </a:rPr>
              <a:t>Understanding Government Policies in Your Language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794760"/>
            <a:ext cx="2011680" cy="384048"/>
          </a:xfrm>
          <a:prstGeom prst="roundRect">
            <a:avLst>
              <a:gd name="adj" fmla="val 11905"/>
            </a:avLst>
          </a:prstGeom>
          <a:solidFill>
            <a:srgbClr val="5B6EF7"/>
          </a:solidFill>
          <a:ln w="12700">
            <a:solidFill>
              <a:srgbClr val="2A3D6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79476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Claude AI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24912" y="3794760"/>
            <a:ext cx="2011680" cy="384048"/>
          </a:xfrm>
          <a:prstGeom prst="roundRect">
            <a:avLst>
              <a:gd name="adj" fmla="val 11905"/>
            </a:avLst>
          </a:prstGeom>
          <a:solidFill>
            <a:srgbClr val="1C2A47"/>
          </a:solidFill>
          <a:ln w="12700">
            <a:solidFill>
              <a:srgbClr val="2A3D6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24912" y="379476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React + Flask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901184" y="3794760"/>
            <a:ext cx="2011680" cy="384048"/>
          </a:xfrm>
          <a:prstGeom prst="roundRect">
            <a:avLst>
              <a:gd name="adj" fmla="val 11905"/>
            </a:avLst>
          </a:prstGeom>
          <a:solidFill>
            <a:srgbClr val="1C2A47"/>
          </a:solidFill>
          <a:ln w="12700">
            <a:solidFill>
              <a:srgbClr val="2A3D6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01184" y="379476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11 Languages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077456" y="3794760"/>
            <a:ext cx="2011680" cy="384048"/>
          </a:xfrm>
          <a:prstGeom prst="roundRect">
            <a:avLst>
              <a:gd name="adj" fmla="val 11905"/>
            </a:avLst>
          </a:prstGeom>
          <a:solidFill>
            <a:srgbClr val="1C2A47"/>
          </a:solidFill>
          <a:ln w="12700">
            <a:solidFill>
              <a:srgbClr val="2A3D6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77456" y="379476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Built for India 🇮🇳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1E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629"/>
          </a:solidFill>
          <a:ln w="12700">
            <a:solidFill>
              <a:srgbClr val="0F162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F6B6B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PolicyLens Exists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2926080" cy="1417320"/>
          </a:xfrm>
          <a:prstGeom prst="rect">
            <a:avLst/>
          </a:prstGeom>
          <a:solidFill>
            <a:srgbClr val="1C2A47"/>
          </a:solidFill>
          <a:ln w="25400">
            <a:solidFill>
              <a:srgbClr val="FF6B6B"/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05156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6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1.4B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8EEF8"/>
                </a:solidFill>
              </a:rPr>
              <a:t>People in India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749040" y="1051560"/>
            <a:ext cx="4937760" cy="1115568"/>
          </a:xfrm>
          <a:prstGeom prst="rect">
            <a:avLst/>
          </a:prstGeom>
          <a:solidFill>
            <a:srgbClr val="1C2A47"/>
          </a:solidFill>
          <a:ln w="12700">
            <a:solidFill>
              <a:srgbClr val="2A3D63"/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931920" y="114300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📜  Complex Legal Language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931920" y="1490472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BC2"/>
                </a:solidFill>
              </a:rPr>
              <a:t>Policies are written in dense legal English or Hindi that most citizens can't parse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749040" y="2313432"/>
            <a:ext cx="4937760" cy="1115568"/>
          </a:xfrm>
          <a:prstGeom prst="rect">
            <a:avLst/>
          </a:prstGeom>
          <a:solidFill>
            <a:srgbClr val="1C2A47"/>
          </a:solidFill>
          <a:ln w="12700">
            <a:solidFill>
              <a:srgbClr val="2A3D63"/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931920" y="2404872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🌍  No Regional Language Support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931920" y="2752344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BC2"/>
                </a:solidFill>
              </a:rPr>
              <a:t>Zero tools explain policy in Bengali, Tamil, Telugu, or other regional languages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749040" y="3575304"/>
            <a:ext cx="4937760" cy="1115568"/>
          </a:xfrm>
          <a:prstGeom prst="rect">
            <a:avLst/>
          </a:prstGeom>
          <a:solidFill>
            <a:srgbClr val="1C2A47"/>
          </a:solidFill>
          <a:ln w="12700">
            <a:solidFill>
              <a:srgbClr val="2A3D63"/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931920" y="3666744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🎯  No Personalisation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931920" y="4014216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BC2"/>
                </a:solidFill>
              </a:rPr>
              <a:t>Citizens don't know how a policy impacts THEM — student, farmer, or business owner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4480560"/>
            <a:ext cx="8229600" cy="411480"/>
          </a:xfrm>
          <a:prstGeom prst="rect">
            <a:avLst/>
          </a:prstGeom>
          <a:solidFill>
            <a:srgbClr val="FF6B6B">
              <a:alpha val="15000"/>
            </a:srgbClr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44805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6B6B"/>
                </a:solidFill>
              </a:rPr>
              <a:t>Result: Citizens remain uninformed about laws that directly impact their lives.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E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629"/>
          </a:solidFill>
          <a:ln w="12700">
            <a:solidFill>
              <a:srgbClr val="0F162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43E8A0"/>
                </a:solidFill>
              </a:rPr>
              <a:t>OUR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PolicyLens AI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Type any policy name →</a:t>
            </a:r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Get instant explanation in YOUR language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2057400"/>
            <a:ext cx="4023360" cy="1097280"/>
          </a:xfrm>
          <a:prstGeom prst="rect">
            <a:avLst/>
          </a:prstGeom>
          <a:solidFill>
            <a:srgbClr val="1C2A47"/>
          </a:solidFill>
          <a:ln w="12700">
            <a:solidFill>
              <a:srgbClr val="5B6EF7"/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2057400"/>
            <a:ext cx="54864" cy="1097280"/>
          </a:xfrm>
          <a:prstGeom prst="rect">
            <a:avLst/>
          </a:prstGeom>
          <a:solidFill>
            <a:srgbClr val="5B6EF7"/>
          </a:solidFill>
          <a:ln w="12700">
            <a:solidFill>
              <a:srgbClr val="5B6E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14884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🗣️  Simple Language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2532888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BC2"/>
                </a:solidFill>
              </a:rPr>
              <a:t>No jargon — explained like a trusted friend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2057400"/>
            <a:ext cx="4023360" cy="1097280"/>
          </a:xfrm>
          <a:prstGeom prst="rect">
            <a:avLst/>
          </a:prstGeom>
          <a:solidFill>
            <a:srgbClr val="1C2A47"/>
          </a:solidFill>
          <a:ln w="12700">
            <a:solidFill>
              <a:srgbClr val="5B6EF7"/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2057400"/>
            <a:ext cx="54864" cy="1097280"/>
          </a:xfrm>
          <a:prstGeom prst="rect">
            <a:avLst/>
          </a:prstGeom>
          <a:solidFill>
            <a:srgbClr val="5B6EF7"/>
          </a:solidFill>
          <a:ln w="12700">
            <a:solidFill>
              <a:srgbClr val="5B6EF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214884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🎯  Personalized Impact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46320" y="2532888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BC2"/>
                </a:solidFill>
              </a:rPr>
              <a:t>Student / Job Seeker / Business / Citizen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337560"/>
            <a:ext cx="4023360" cy="1097280"/>
          </a:xfrm>
          <a:prstGeom prst="rect">
            <a:avLst/>
          </a:prstGeom>
          <a:solidFill>
            <a:srgbClr val="1C2A47"/>
          </a:solidFill>
          <a:ln w="12700">
            <a:solidFill>
              <a:srgbClr val="5B6EF7"/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3337560"/>
            <a:ext cx="54864" cy="1097280"/>
          </a:xfrm>
          <a:prstGeom prst="rect">
            <a:avLst/>
          </a:prstGeom>
          <a:solidFill>
            <a:srgbClr val="5B6EF7"/>
          </a:solidFill>
          <a:ln w="12700">
            <a:solidFill>
              <a:srgbClr val="5B6EF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42900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🌐  11 Indian Languages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" y="3813048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BC2"/>
                </a:solidFill>
              </a:rPr>
              <a:t>Hinglish, Hindi, Bengali, Tamil, Telugu &amp; more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63440" y="3337560"/>
            <a:ext cx="4023360" cy="1097280"/>
          </a:xfrm>
          <a:prstGeom prst="rect">
            <a:avLst/>
          </a:prstGeom>
          <a:solidFill>
            <a:srgbClr val="1C2A47"/>
          </a:solidFill>
          <a:ln w="12700">
            <a:solidFill>
              <a:srgbClr val="5B6EF7"/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63440" y="3337560"/>
            <a:ext cx="54864" cy="1097280"/>
          </a:xfrm>
          <a:prstGeom prst="rect">
            <a:avLst/>
          </a:prstGeom>
          <a:solidFill>
            <a:srgbClr val="5B6EF7"/>
          </a:solidFill>
          <a:ln w="12700">
            <a:solidFill>
              <a:srgbClr val="5B6EF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342900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📋  Structured Output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46320" y="3813048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BC2"/>
                </a:solidFill>
              </a:rPr>
              <a:t>Pros, Cons, Summary — all in one place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E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629"/>
          </a:solidFill>
          <a:ln w="12700">
            <a:solidFill>
              <a:srgbClr val="0F162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7B8EFF"/>
                </a:solidFill>
              </a:rPr>
              <a:t>HOW IT WORKS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 Simple Steps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170432"/>
            <a:ext cx="777240" cy="777240"/>
          </a:xfrm>
          <a:prstGeom prst="ellipse">
            <a:avLst/>
          </a:prstGeom>
          <a:solidFill>
            <a:srgbClr val="5B6EF7"/>
          </a:solidFill>
          <a:ln w="12700">
            <a:solidFill>
              <a:srgbClr val="5B6E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70432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1629"/>
                </a:solidFill>
              </a:rPr>
              <a:t>01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41248" y="1947672"/>
            <a:ext cx="0" cy="502920"/>
          </a:xfrm>
          <a:prstGeom prst="line">
            <a:avLst/>
          </a:prstGeom>
          <a:noFill/>
          <a:ln w="12700">
            <a:solidFill>
              <a:srgbClr val="2A3D63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1508760" y="1097280"/>
            <a:ext cx="7178040" cy="1115568"/>
          </a:xfrm>
          <a:prstGeom prst="rect">
            <a:avLst/>
          </a:prstGeom>
          <a:solidFill>
            <a:srgbClr val="1C2A47"/>
          </a:solidFill>
          <a:ln w="12700">
            <a:solidFill>
              <a:srgbClr val="5B6EF7"/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691640" y="1188720"/>
            <a:ext cx="6766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Type the Policy Name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691640" y="1554480"/>
            <a:ext cx="6766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BC2"/>
                </a:solidFill>
              </a:rPr>
              <a:t>Enter any policy — GST, Budget 2024, NEP,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A9BC2"/>
                </a:solidFill>
              </a:rPr>
              <a:t>Farm Bills, MGNREGA, or any government scheme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432304"/>
            <a:ext cx="777240" cy="777240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432304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1629"/>
                </a:solidFill>
              </a:rPr>
              <a:t>02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841248" y="3209544"/>
            <a:ext cx="0" cy="502920"/>
          </a:xfrm>
          <a:prstGeom prst="line">
            <a:avLst/>
          </a:prstGeom>
          <a:noFill/>
          <a:ln w="12700">
            <a:solidFill>
              <a:srgbClr val="2A3D63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1508760" y="2359152"/>
            <a:ext cx="7178040" cy="1115568"/>
          </a:xfrm>
          <a:prstGeom prst="rect">
            <a:avLst/>
          </a:prstGeom>
          <a:solidFill>
            <a:srgbClr val="1C2A47"/>
          </a:solidFill>
          <a:ln w="12700">
            <a:solidFill>
              <a:srgbClr val="FF6B6B"/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691640" y="2450592"/>
            <a:ext cx="6766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Select Your Profile &amp; Language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691640" y="2816352"/>
            <a:ext cx="6766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BC2"/>
                </a:solidFill>
              </a:rPr>
              <a:t>Choose who you are — Student / Job Seeker /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A9BC2"/>
                </a:solidFill>
              </a:rPr>
              <a:t>Business Owner / Citizen  ·  Pick your language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694176"/>
            <a:ext cx="777240" cy="777240"/>
          </a:xfrm>
          <a:prstGeom prst="ellipse">
            <a:avLst/>
          </a:prstGeom>
          <a:solidFill>
            <a:srgbClr val="43E8A0"/>
          </a:solidFill>
          <a:ln w="12700">
            <a:solidFill>
              <a:srgbClr val="43E8A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694176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1629"/>
                </a:solidFill>
              </a:rPr>
              <a:t>03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1508760" y="3621024"/>
            <a:ext cx="7178040" cy="1115568"/>
          </a:xfrm>
          <a:prstGeom prst="rect">
            <a:avLst/>
          </a:prstGeom>
          <a:solidFill>
            <a:srgbClr val="1C2A47"/>
          </a:solidFill>
          <a:ln w="12700">
            <a:solidFill>
              <a:srgbClr val="43E8A0"/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1691640" y="3712464"/>
            <a:ext cx="6766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Click "Explain Policy"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691640" y="4078224"/>
            <a:ext cx="6766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BC2"/>
                </a:solidFill>
              </a:rPr>
              <a:t>Get a complete breakdown in seconds: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A9BC2"/>
                </a:solidFill>
              </a:rPr>
              <a:t>Explanation → Why Introduced → Your Impact → Pros &amp; Cons → Summary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E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629"/>
          </a:solidFill>
          <a:ln w="12700">
            <a:solidFill>
              <a:srgbClr val="0F162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FD166"/>
                </a:solidFill>
              </a:rPr>
              <a:t>FEATURES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PolicyLens Delivers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3931920" cy="3749040"/>
          </a:xfrm>
          <a:prstGeom prst="rect">
            <a:avLst/>
          </a:prstGeom>
          <a:solidFill>
            <a:srgbClr val="1C2A47"/>
          </a:solidFill>
          <a:ln w="25400">
            <a:solidFill>
              <a:srgbClr val="5B6EF7"/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18872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B8EFF"/>
                </a:solidFill>
              </a:rPr>
              <a:t>🌐  11 Regional Languages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1691640"/>
            <a:ext cx="1554480" cy="347472"/>
          </a:xfrm>
          <a:prstGeom prst="roundRect">
            <a:avLst>
              <a:gd name="adj" fmla="val 13158"/>
            </a:avLst>
          </a:prstGeom>
          <a:solidFill>
            <a:srgbClr val="0F1629"/>
          </a:solidFill>
          <a:ln w="12700">
            <a:solidFill>
              <a:srgbClr val="2A3D6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69164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EEF8"/>
                </a:solidFill>
              </a:rPr>
              <a:t>Hinglish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40080" y="2176272"/>
            <a:ext cx="1554480" cy="347472"/>
          </a:xfrm>
          <a:prstGeom prst="roundRect">
            <a:avLst>
              <a:gd name="adj" fmla="val 13158"/>
            </a:avLst>
          </a:prstGeom>
          <a:solidFill>
            <a:srgbClr val="0F1629"/>
          </a:solidFill>
          <a:ln w="12700">
            <a:solidFill>
              <a:srgbClr val="2A3D6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176272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EEF8"/>
                </a:solidFill>
              </a:rPr>
              <a:t>Hindi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0080" y="2660904"/>
            <a:ext cx="1554480" cy="347472"/>
          </a:xfrm>
          <a:prstGeom prst="roundRect">
            <a:avLst>
              <a:gd name="adj" fmla="val 13158"/>
            </a:avLst>
          </a:prstGeom>
          <a:solidFill>
            <a:srgbClr val="0F1629"/>
          </a:solidFill>
          <a:ln w="12700">
            <a:solidFill>
              <a:srgbClr val="2A3D6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660904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EEF8"/>
                </a:solidFill>
              </a:rPr>
              <a:t>Bengali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40080" y="3145536"/>
            <a:ext cx="1554480" cy="347472"/>
          </a:xfrm>
          <a:prstGeom prst="roundRect">
            <a:avLst>
              <a:gd name="adj" fmla="val 13158"/>
            </a:avLst>
          </a:prstGeom>
          <a:solidFill>
            <a:srgbClr val="0F1629"/>
          </a:solidFill>
          <a:ln w="12700">
            <a:solidFill>
              <a:srgbClr val="2A3D6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145536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EEF8"/>
                </a:solidFill>
              </a:rPr>
              <a:t>Tamil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40080" y="3630168"/>
            <a:ext cx="1554480" cy="347472"/>
          </a:xfrm>
          <a:prstGeom prst="roundRect">
            <a:avLst>
              <a:gd name="adj" fmla="val 13158"/>
            </a:avLst>
          </a:prstGeom>
          <a:solidFill>
            <a:srgbClr val="0F1629"/>
          </a:solidFill>
          <a:ln w="12700">
            <a:solidFill>
              <a:srgbClr val="2A3D6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630168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EEF8"/>
                </a:solidFill>
              </a:rPr>
              <a:t>Telugu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40080" y="4114800"/>
            <a:ext cx="1554480" cy="347472"/>
          </a:xfrm>
          <a:prstGeom prst="roundRect">
            <a:avLst>
              <a:gd name="adj" fmla="val 13158"/>
            </a:avLst>
          </a:prstGeom>
          <a:solidFill>
            <a:srgbClr val="0F1629"/>
          </a:solidFill>
          <a:ln w="12700">
            <a:solidFill>
              <a:srgbClr val="2A3D6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411480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EEF8"/>
                </a:solidFill>
              </a:rPr>
              <a:t>Marathi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468880" y="1691640"/>
            <a:ext cx="1554480" cy="347472"/>
          </a:xfrm>
          <a:prstGeom prst="roundRect">
            <a:avLst>
              <a:gd name="adj" fmla="val 13158"/>
            </a:avLst>
          </a:prstGeom>
          <a:solidFill>
            <a:srgbClr val="0F1629"/>
          </a:solidFill>
          <a:ln w="12700">
            <a:solidFill>
              <a:srgbClr val="2A3D6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468880" y="169164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EEF8"/>
                </a:solidFill>
              </a:rPr>
              <a:t>Gujarati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468880" y="2176272"/>
            <a:ext cx="1554480" cy="347472"/>
          </a:xfrm>
          <a:prstGeom prst="roundRect">
            <a:avLst>
              <a:gd name="adj" fmla="val 13158"/>
            </a:avLst>
          </a:prstGeom>
          <a:solidFill>
            <a:srgbClr val="0F1629"/>
          </a:solidFill>
          <a:ln w="12700">
            <a:solidFill>
              <a:srgbClr val="2A3D6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468880" y="2176272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EEF8"/>
                </a:solidFill>
              </a:rPr>
              <a:t>Kannada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468880" y="2660904"/>
            <a:ext cx="1554480" cy="347472"/>
          </a:xfrm>
          <a:prstGeom prst="roundRect">
            <a:avLst>
              <a:gd name="adj" fmla="val 13158"/>
            </a:avLst>
          </a:prstGeom>
          <a:solidFill>
            <a:srgbClr val="0F1629"/>
          </a:solidFill>
          <a:ln w="12700">
            <a:solidFill>
              <a:srgbClr val="2A3D6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468880" y="2660904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EEF8"/>
                </a:solidFill>
              </a:rPr>
              <a:t>Malayalam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468880" y="3145536"/>
            <a:ext cx="1554480" cy="347472"/>
          </a:xfrm>
          <a:prstGeom prst="roundRect">
            <a:avLst>
              <a:gd name="adj" fmla="val 13158"/>
            </a:avLst>
          </a:prstGeom>
          <a:solidFill>
            <a:srgbClr val="0F1629"/>
          </a:solidFill>
          <a:ln w="12700">
            <a:solidFill>
              <a:srgbClr val="2A3D6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468880" y="3145536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EEF8"/>
                </a:solidFill>
              </a:rPr>
              <a:t>Punjabi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468880" y="3630168"/>
            <a:ext cx="1554480" cy="347472"/>
          </a:xfrm>
          <a:prstGeom prst="roundRect">
            <a:avLst>
              <a:gd name="adj" fmla="val 13158"/>
            </a:avLst>
          </a:prstGeom>
          <a:solidFill>
            <a:srgbClr val="0F1629"/>
          </a:solidFill>
          <a:ln w="12700">
            <a:solidFill>
              <a:srgbClr val="2A3D6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468880" y="3630168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EEF8"/>
                </a:solidFill>
              </a:rPr>
              <a:t>Odia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663440" y="1051560"/>
            <a:ext cx="4023360" cy="1115568"/>
          </a:xfrm>
          <a:prstGeom prst="rect">
            <a:avLst/>
          </a:prstGeom>
          <a:solidFill>
            <a:srgbClr val="1C2A47"/>
          </a:solidFill>
          <a:ln w="12700">
            <a:solidFill>
              <a:srgbClr val="2A3D63"/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663440" y="1051560"/>
            <a:ext cx="54864" cy="1115568"/>
          </a:xfrm>
          <a:prstGeom prst="rect">
            <a:avLst/>
          </a:prstGeom>
          <a:solidFill>
            <a:srgbClr val="43E8A0"/>
          </a:solidFill>
          <a:ln w="12700">
            <a:solidFill>
              <a:srgbClr val="43E8A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46320" y="114300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👤  Personalized for You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846320" y="1527048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BC2"/>
                </a:solidFill>
              </a:rPr>
              <a:t>Student · Job Seeker · Business · Citizen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663440" y="2313432"/>
            <a:ext cx="4023360" cy="1115568"/>
          </a:xfrm>
          <a:prstGeom prst="rect">
            <a:avLst/>
          </a:prstGeom>
          <a:solidFill>
            <a:srgbClr val="1C2A47"/>
          </a:solidFill>
          <a:ln w="12700">
            <a:solidFill>
              <a:srgbClr val="2A3D63"/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663440" y="2313432"/>
            <a:ext cx="54864" cy="1115568"/>
          </a:xfrm>
          <a:prstGeom prst="rect">
            <a:avLst/>
          </a:prstGeom>
          <a:solidFill>
            <a:srgbClr val="43E8A0"/>
          </a:solidFill>
          <a:ln w="12700">
            <a:solidFill>
              <a:srgbClr val="43E8A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46320" y="240487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📋  Structured 5-Part Output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4846320" y="2788920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BC2"/>
                </a:solidFill>
              </a:rPr>
              <a:t>Explanation → Why Introduced → Your Impact → Pros/Cons → Summary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663440" y="3575304"/>
            <a:ext cx="4023360" cy="1115568"/>
          </a:xfrm>
          <a:prstGeom prst="rect">
            <a:avLst/>
          </a:prstGeom>
          <a:solidFill>
            <a:srgbClr val="1C2A47"/>
          </a:solidFill>
          <a:ln w="12700">
            <a:solidFill>
              <a:srgbClr val="2A3D63"/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663440" y="3575304"/>
            <a:ext cx="54864" cy="1115568"/>
          </a:xfrm>
          <a:prstGeom prst="rect">
            <a:avLst/>
          </a:prstGeom>
          <a:solidFill>
            <a:srgbClr val="43E8A0"/>
          </a:solidFill>
          <a:ln w="12700">
            <a:solidFill>
              <a:srgbClr val="43E8A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46320" y="3666744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⚡  Instant Results + One-Click Copy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4846320" y="4050792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BC2"/>
                </a:solidFill>
              </a:rPr>
              <a:t>Fast AI-powered responses, ready to share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E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629"/>
          </a:solidFill>
          <a:ln w="12700">
            <a:solidFill>
              <a:srgbClr val="0F162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5B6EF7"/>
                </a:solidFill>
              </a:rPr>
              <a:t>TECH STACK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Built on Modern, Lean Tooling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8229600" cy="694944"/>
          </a:xfrm>
          <a:prstGeom prst="rect">
            <a:avLst/>
          </a:prstGeom>
          <a:solidFill>
            <a:srgbClr val="1C2A47"/>
          </a:solidFill>
          <a:ln w="12700">
            <a:solidFill>
              <a:srgbClr val="2A3D6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97280"/>
            <a:ext cx="1371600" cy="694944"/>
          </a:xfrm>
          <a:prstGeom prst="rect">
            <a:avLst/>
          </a:prstGeom>
          <a:solidFill>
            <a:srgbClr val="7B8EFF">
              <a:alpha val="25000"/>
            </a:srgbClr>
          </a:solidFill>
          <a:ln w="12700">
            <a:solidFill>
              <a:srgbClr val="7B8E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97280"/>
            <a:ext cx="1371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7B8EFF"/>
                </a:solidFill>
              </a:rPr>
              <a:t>FRONTEND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011680" y="11430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React.js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011680" y="1481328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BC2"/>
                </a:solidFill>
              </a:rPr>
              <a:t>Single-file component, no build step — zero friction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1901952"/>
            <a:ext cx="8229600" cy="694944"/>
          </a:xfrm>
          <a:prstGeom prst="rect">
            <a:avLst/>
          </a:prstGeom>
          <a:solidFill>
            <a:srgbClr val="0F1629"/>
          </a:solidFill>
          <a:ln w="12700">
            <a:solidFill>
              <a:srgbClr val="2A3D6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1901952"/>
            <a:ext cx="1371600" cy="694944"/>
          </a:xfrm>
          <a:prstGeom prst="rect">
            <a:avLst/>
          </a:prstGeom>
          <a:solidFill>
            <a:srgbClr val="43E8A0">
              <a:alpha val="25000"/>
            </a:srgbClr>
          </a:solidFill>
          <a:ln w="12700">
            <a:solidFill>
              <a:srgbClr val="43E8A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901952"/>
            <a:ext cx="1371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43E8A0"/>
                </a:solidFill>
              </a:rPr>
              <a:t>BACKEND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011680" y="194767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Python + Flask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011680" y="2286000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BC2"/>
                </a:solidFill>
              </a:rPr>
              <a:t>Lightweight REST API handling AI prompt construction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706624"/>
            <a:ext cx="8229600" cy="694944"/>
          </a:xfrm>
          <a:prstGeom prst="rect">
            <a:avLst/>
          </a:prstGeom>
          <a:solidFill>
            <a:srgbClr val="1C2A47"/>
          </a:solidFill>
          <a:ln w="12700">
            <a:solidFill>
              <a:srgbClr val="2A3D6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706624"/>
            <a:ext cx="1371600" cy="694944"/>
          </a:xfrm>
          <a:prstGeom prst="rect">
            <a:avLst/>
          </a:prstGeom>
          <a:solidFill>
            <a:srgbClr val="FF6B6B">
              <a:alpha val="25000"/>
            </a:srgbClr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706624"/>
            <a:ext cx="1371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FF6B6B"/>
                </a:solidFill>
              </a:rPr>
              <a:t>AI MODEL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011680" y="275234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Claude (Anthropic)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011680" y="3090672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BC2"/>
                </a:solidFill>
              </a:rPr>
              <a:t>Powering multilingual policy explanations with nuance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3511296"/>
            <a:ext cx="8229600" cy="694944"/>
          </a:xfrm>
          <a:prstGeom prst="rect">
            <a:avLst/>
          </a:prstGeom>
          <a:solidFill>
            <a:srgbClr val="0F1629"/>
          </a:solidFill>
          <a:ln w="12700">
            <a:solidFill>
              <a:srgbClr val="2A3D6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3511296"/>
            <a:ext cx="1371600" cy="694944"/>
          </a:xfrm>
          <a:prstGeom prst="rect">
            <a:avLst/>
          </a:prstGeom>
          <a:solidFill>
            <a:srgbClr val="FFD166">
              <a:alpha val="25000"/>
            </a:srgbClr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511296"/>
            <a:ext cx="1371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FFD166"/>
                </a:solidFill>
              </a:rPr>
              <a:t>DEPLOYMENT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011680" y="3557016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Render.com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2011680" y="3895344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BC2"/>
                </a:solidFill>
              </a:rPr>
              <a:t>Free-tier hosting — live &amp; accessible to all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4315968"/>
            <a:ext cx="8229600" cy="694944"/>
          </a:xfrm>
          <a:prstGeom prst="rect">
            <a:avLst/>
          </a:prstGeom>
          <a:solidFill>
            <a:srgbClr val="1C2A47"/>
          </a:solidFill>
          <a:ln w="12700">
            <a:solidFill>
              <a:srgbClr val="2A3D6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4315968"/>
            <a:ext cx="1371600" cy="694944"/>
          </a:xfrm>
          <a:prstGeom prst="rect">
            <a:avLst/>
          </a:prstGeom>
          <a:solidFill>
            <a:srgbClr val="5B6EF7">
              <a:alpha val="25000"/>
            </a:srgbClr>
          </a:solidFill>
          <a:ln w="12700">
            <a:solidFill>
              <a:srgbClr val="5B6EF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4315968"/>
            <a:ext cx="1371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5B6EF7"/>
                </a:solidFill>
              </a:rPr>
              <a:t>LANGUAGES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011680" y="43616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11 Indian Languages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2011680" y="4700016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BC2"/>
                </a:solidFill>
              </a:rPr>
              <a:t>Regional support via carefully crafted AI prompting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E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629"/>
          </a:solidFill>
          <a:ln w="12700">
            <a:solidFill>
              <a:srgbClr val="0F162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43E8A0"/>
                </a:solidFill>
              </a:rPr>
              <a:t>LIVE DEMO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See PolicyLens in Action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3200400" cy="3749040"/>
          </a:xfrm>
          <a:prstGeom prst="rect">
            <a:avLst/>
          </a:prstGeom>
          <a:solidFill>
            <a:srgbClr val="1C2A47"/>
          </a:solidFill>
          <a:ln w="25400">
            <a:solidFill>
              <a:srgbClr val="5B6EF7"/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17043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B8EFF"/>
                </a:solidFill>
              </a:rPr>
              <a:t>User Input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16459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BC2"/>
                </a:solidFill>
              </a:rPr>
              <a:t>Policy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40080" y="1920240"/>
            <a:ext cx="2743200" cy="384048"/>
          </a:xfrm>
          <a:prstGeom prst="rect">
            <a:avLst/>
          </a:prstGeom>
          <a:solidFill>
            <a:srgbClr val="0F1629"/>
          </a:solidFill>
          <a:ln w="12700">
            <a:solidFill>
              <a:srgbClr val="2A3D6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92024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GST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246888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BC2"/>
                </a:solidFill>
              </a:rPr>
              <a:t>User Type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40080" y="2743200"/>
            <a:ext cx="2743200" cy="384048"/>
          </a:xfrm>
          <a:prstGeom prst="rect">
            <a:avLst/>
          </a:prstGeom>
          <a:solidFill>
            <a:srgbClr val="0F1629"/>
          </a:solidFill>
          <a:ln w="12700">
            <a:solidFill>
              <a:srgbClr val="2A3D6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74320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Business Owner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329184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BC2"/>
                </a:solidFill>
              </a:rPr>
              <a:t>Language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40080" y="3566160"/>
            <a:ext cx="2743200" cy="384048"/>
          </a:xfrm>
          <a:prstGeom prst="rect">
            <a:avLst/>
          </a:prstGeom>
          <a:solidFill>
            <a:srgbClr val="0F1629"/>
          </a:solidFill>
          <a:ln w="12700">
            <a:solidFill>
              <a:srgbClr val="2A3D6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56616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Hinglish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4160520"/>
            <a:ext cx="2743200" cy="457200"/>
          </a:xfrm>
          <a:prstGeom prst="roundRect">
            <a:avLst>
              <a:gd name="adj" fmla="val 14000"/>
            </a:avLst>
          </a:prstGeom>
          <a:solidFill>
            <a:srgbClr val="5B6EF7"/>
          </a:solidFill>
          <a:ln w="12700">
            <a:solidFill>
              <a:srgbClr val="5B6EF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41605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⚡  Explain Policy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931920" y="1051560"/>
            <a:ext cx="4754880" cy="3749040"/>
          </a:xfrm>
          <a:prstGeom prst="rect">
            <a:avLst/>
          </a:prstGeom>
          <a:solidFill>
            <a:srgbClr val="1C2A47"/>
          </a:solidFill>
          <a:ln w="25400">
            <a:solidFill>
              <a:srgbClr val="43E8A0"/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114800" y="117043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3E8A0"/>
                </a:solidFill>
              </a:rPr>
              <a:t>AI Output Card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114800" y="1600200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📌 What is GST?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114800" y="1892808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BC2"/>
                </a:solidFill>
              </a:rPr>
              <a:t>GST ek indirect tax hai jo goods aur services par lagta hai...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114800" y="2487168"/>
            <a:ext cx="4389120" cy="0"/>
          </a:xfrm>
          <a:prstGeom prst="line">
            <a:avLst/>
          </a:prstGeom>
          <a:noFill/>
          <a:ln w="6350">
            <a:solidFill>
              <a:srgbClr val="2A3D6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0" y="2606040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🎯 Business Owner Impact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114800" y="2898648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BC2"/>
                </a:solidFill>
              </a:rPr>
              <a:t>Aapko ITC (input tax credit) milta hai jo costs kam karta hai...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114800" y="3493008"/>
            <a:ext cx="4389120" cy="0"/>
          </a:xfrm>
          <a:prstGeom prst="line">
            <a:avLst/>
          </a:prstGeom>
          <a:noFill/>
          <a:ln w="6350">
            <a:solidFill>
              <a:srgbClr val="2A3D6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0" y="3611880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✅ Pros  |  ❌ Cons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114800" y="3904488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BC2"/>
                </a:solidFill>
              </a:rPr>
              <a:t>Uniform tax system / Digital compliance required...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E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629"/>
          </a:solidFill>
          <a:ln w="12700">
            <a:solidFill>
              <a:srgbClr val="0F162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F6B6B"/>
                </a:solidFill>
              </a:rPr>
              <a:t>IMPACT &amp; REACH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Who Benefits from PolicyLens?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4023360" cy="1463040"/>
          </a:xfrm>
          <a:prstGeom prst="rect">
            <a:avLst/>
          </a:prstGeom>
          <a:solidFill>
            <a:srgbClr val="1C2A47"/>
          </a:solidFill>
          <a:ln w="25400">
            <a:solidFill>
              <a:srgbClr val="7B8EFF"/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34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🎓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325880" y="126187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7B8EFF"/>
                </a:solidFill>
              </a:rPr>
              <a:t>Students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325880" y="1664208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BC2"/>
                </a:solidFill>
              </a:rPr>
              <a:t>NEP, Scholarships, Skill India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1097280"/>
            <a:ext cx="4023360" cy="1463040"/>
          </a:xfrm>
          <a:prstGeom prst="rect">
            <a:avLst/>
          </a:prstGeom>
          <a:solidFill>
            <a:srgbClr val="1C2A47"/>
          </a:solidFill>
          <a:ln w="25400">
            <a:solidFill>
              <a:srgbClr val="43E8A0"/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00600" y="1234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💼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5532120" y="126187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3E8A0"/>
                </a:solidFill>
              </a:rPr>
              <a:t>Job Seekers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532120" y="1664208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BC2"/>
                </a:solidFill>
              </a:rPr>
              <a:t>MGNREGA, Skill India, Employment schemes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743200"/>
            <a:ext cx="4023360" cy="1463040"/>
          </a:xfrm>
          <a:prstGeom prst="rect">
            <a:avLst/>
          </a:prstGeom>
          <a:solidFill>
            <a:srgbClr val="1C2A47"/>
          </a:solidFill>
          <a:ln w="25400">
            <a:solidFill>
              <a:srgbClr val="FFD166"/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94360" y="2880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🏪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1325880" y="290779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D166"/>
                </a:solidFill>
              </a:rPr>
              <a:t>Business Owners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325880" y="3310128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BC2"/>
                </a:solidFill>
              </a:rPr>
              <a:t>GST, Startup India, Tax policies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63440" y="2743200"/>
            <a:ext cx="4023360" cy="1463040"/>
          </a:xfrm>
          <a:prstGeom prst="rect">
            <a:avLst/>
          </a:prstGeom>
          <a:solidFill>
            <a:srgbClr val="1C2A47"/>
          </a:solidFill>
          <a:ln w="25400">
            <a:solidFill>
              <a:srgbClr val="FF6B6B"/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800600" y="2880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🧑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5532120" y="290779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6B6B"/>
                </a:solidFill>
              </a:rPr>
              <a:t>Citizens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532120" y="3310128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BC2"/>
                </a:solidFill>
              </a:rPr>
              <a:t>Budget, Healthcare, Farming Laws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4343400"/>
            <a:ext cx="8229600" cy="502920"/>
          </a:xfrm>
          <a:prstGeom prst="rect">
            <a:avLst/>
          </a:prstGeom>
          <a:solidFill>
            <a:srgbClr val="5B6EF7">
              <a:alpha val="20000"/>
            </a:srgbClr>
          </a:solidFill>
          <a:ln w="12700">
            <a:solidFill>
              <a:srgbClr val="5B6EF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43434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India has 22 official languages. PolicyLens AI bridges the gap between government and people. 🇮🇳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E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629"/>
          </a:solidFill>
          <a:ln w="12700">
            <a:solidFill>
              <a:srgbClr val="0F162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FD166"/>
                </a:solidFill>
              </a:rPr>
              <a:t>FUTURE SCOPE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What's Coming Next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2697480" cy="1508760"/>
          </a:xfrm>
          <a:prstGeom prst="rect">
            <a:avLst/>
          </a:prstGeom>
          <a:solidFill>
            <a:srgbClr val="1C2A47"/>
          </a:solidFill>
          <a:ln w="12700">
            <a:solidFill>
              <a:srgbClr val="5B6EF7"/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070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🔊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94360" y="1755648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B6EF7"/>
                </a:solidFill>
              </a:rPr>
              <a:t>Voice Output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2084832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9BC2"/>
                </a:solidFill>
              </a:rPr>
              <a:t>Listen to policy explanations — accessibility for all literacy levels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337560" y="1097280"/>
            <a:ext cx="2697480" cy="1508760"/>
          </a:xfrm>
          <a:prstGeom prst="rect">
            <a:avLst/>
          </a:prstGeom>
          <a:solidFill>
            <a:srgbClr val="1C2A47"/>
          </a:solidFill>
          <a:ln w="12700">
            <a:solidFill>
              <a:srgbClr val="43E8A0"/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474720" y="12070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📱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474720" y="1755648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3E8A0"/>
                </a:solidFill>
              </a:rPr>
              <a:t>Mobile App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474720" y="2084832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9BC2"/>
                </a:solidFill>
              </a:rPr>
              <a:t>Native Android &amp; iOS app for on-the-go access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217920" y="1097280"/>
            <a:ext cx="2697480" cy="1508760"/>
          </a:xfrm>
          <a:prstGeom prst="rect">
            <a:avLst/>
          </a:prstGeom>
          <a:solidFill>
            <a:srgbClr val="1C2A47"/>
          </a:solidFill>
          <a:ln w="12700">
            <a:solidFill>
              <a:srgbClr val="FFD166"/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355080" y="12070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355080" y="1755648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D166"/>
                </a:solidFill>
              </a:rPr>
              <a:t>Policy Alerts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355080" y="2084832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9BC2"/>
                </a:solidFill>
              </a:rPr>
              <a:t>Notify users instantly when new policies are announced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57200" y="2788920"/>
            <a:ext cx="2697480" cy="1508760"/>
          </a:xfrm>
          <a:prstGeom prst="rect">
            <a:avLst/>
          </a:prstGeom>
          <a:solidFill>
            <a:srgbClr val="1C2A47"/>
          </a:solidFill>
          <a:ln w="12700">
            <a:solidFill>
              <a:srgbClr val="FF6B6B"/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94360" y="28986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📚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594360" y="3447288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6B6B"/>
                </a:solidFill>
              </a:rPr>
              <a:t>Policy History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94360" y="3776472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9BC2"/>
                </a:solidFill>
              </a:rPr>
              <a:t>Track how policies have changed and evolved over time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337560" y="2788920"/>
            <a:ext cx="2697480" cy="1508760"/>
          </a:xfrm>
          <a:prstGeom prst="rect">
            <a:avLst/>
          </a:prstGeom>
          <a:solidFill>
            <a:srgbClr val="1C2A47"/>
          </a:solidFill>
          <a:ln w="12700">
            <a:solidFill>
              <a:srgbClr val="7B8EFF"/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474720" y="28986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🤝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474720" y="3447288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B8EFF"/>
                </a:solidFill>
              </a:rPr>
              <a:t>WhatsApp Bot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474720" y="3776472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9BC2"/>
                </a:solidFill>
              </a:rPr>
              <a:t>Send policy name on WhatsApp → get instant explanation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217920" y="2788920"/>
            <a:ext cx="2697480" cy="1508760"/>
          </a:xfrm>
          <a:prstGeom prst="rect">
            <a:avLst/>
          </a:prstGeom>
          <a:solidFill>
            <a:srgbClr val="1C2A47"/>
          </a:solidFill>
          <a:ln w="12700">
            <a:solidFill>
              <a:srgbClr val="43E8A0"/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355080" y="28986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🗳️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6355080" y="3447288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3E8A0"/>
                </a:solidFill>
              </a:rPr>
              <a:t>Election Mode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355080" y="3776472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9BC2"/>
                </a:solidFill>
              </a:rPr>
              <a:t>Explain party manifestos before elections — informed voting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-731520"/>
            <a:ext cx="5486400" cy="5486400"/>
          </a:xfrm>
          <a:prstGeom prst="ellipse">
            <a:avLst/>
          </a:prstGeom>
          <a:solidFill>
            <a:srgbClr val="5B6EF7">
              <a:alpha val="15000"/>
            </a:srgbClr>
          </a:solidFill>
          <a:ln w="12700">
            <a:solidFill>
              <a:srgbClr val="5B6EF7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645920" y="3200400"/>
            <a:ext cx="4114800" cy="4114800"/>
          </a:xfrm>
          <a:prstGeom prst="ellipse">
            <a:avLst/>
          </a:prstGeom>
          <a:solidFill>
            <a:srgbClr val="43E8A0">
              <a:alpha val="10000"/>
            </a:srgbClr>
          </a:solidFill>
          <a:ln w="12700">
            <a:solidFill>
              <a:srgbClr val="43E8A0">
                <a:alpha val="2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40080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PolicyLens AI</a:t>
            </a:r>
            <a:endParaRPr lang="en-US" sz="5800" dirty="0"/>
          </a:p>
        </p:txBody>
      </p:sp>
      <p:sp>
        <p:nvSpPr>
          <p:cNvPr id="5" name="Text 3"/>
          <p:cNvSpPr/>
          <p:nvPr/>
        </p:nvSpPr>
        <p:spPr>
          <a:xfrm>
            <a:off x="548640" y="187452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FFD1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"Democracy works best when citizens understand</a:t>
            </a:r>
            <a:endParaRPr lang="en-US" sz="1600" dirty="0"/>
          </a:p>
          <a:p>
            <a:pPr marL="0" indent="0">
              <a:buNone/>
            </a:pPr>
            <a:r>
              <a:rPr lang="en-US" sz="1600" i="1" dirty="0">
                <a:solidFill>
                  <a:srgbClr val="FFD1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laws governing them."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3017520"/>
            <a:ext cx="2606040" cy="438912"/>
          </a:xfrm>
          <a:prstGeom prst="roundRect">
            <a:avLst>
              <a:gd name="adj" fmla="val 12500"/>
            </a:avLst>
          </a:prstGeom>
          <a:solidFill>
            <a:srgbClr val="5B6EF7"/>
          </a:solidFill>
          <a:ln w="12700">
            <a:solidFill>
              <a:srgbClr val="2A3D6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3017520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🏆 Anthropic Hackathon 2025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383280" y="3017520"/>
            <a:ext cx="2606040" cy="438912"/>
          </a:xfrm>
          <a:prstGeom prst="roundRect">
            <a:avLst>
              <a:gd name="adj" fmla="val 12500"/>
            </a:avLst>
          </a:prstGeom>
          <a:solidFill>
            <a:srgbClr val="1C2A47"/>
          </a:solidFill>
          <a:ln w="12700">
            <a:solidFill>
              <a:srgbClr val="2A3D6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83280" y="3017520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</a:rPr>
              <a:t>💻 github.com/shoeb/policylens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217920" y="3017520"/>
            <a:ext cx="2606040" cy="438912"/>
          </a:xfrm>
          <a:prstGeom prst="roundRect">
            <a:avLst>
              <a:gd name="adj" fmla="val 12500"/>
            </a:avLst>
          </a:prstGeom>
          <a:solidFill>
            <a:srgbClr val="1C2A47"/>
          </a:solidFill>
          <a:ln w="12700">
            <a:solidFill>
              <a:srgbClr val="2A3D6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0" y="3017520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</a:rPr>
              <a:t>🚀 Live Demo Available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57200" y="44348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A9BC2"/>
                </a:solidFill>
              </a:rPr>
              <a:t>Built with ❤️ using Anthropic Claude  ·  Powered by AI for 1.4 Billion Indians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647</Words>
  <Application>Microsoft Office PowerPoint</Application>
  <PresentationFormat>On-screen Show (16:9)</PresentationFormat>
  <Paragraphs>151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PolicyLens AI</dc:title>
  <dc:subject>PptxGenJS Presentation</dc:subject>
  <dc:creator>Shoeb</dc:creator>
  <cp:lastModifiedBy>Mohd. Shoeb</cp:lastModifiedBy>
  <cp:revision>1</cp:revision>
  <dcterms:created xsi:type="dcterms:W3CDTF">2026-04-28T06:20:07Z</dcterms:created>
  <dcterms:modified xsi:type="dcterms:W3CDTF">2026-04-28T06:31:06Z</dcterms:modified>
</cp:coreProperties>
</file>